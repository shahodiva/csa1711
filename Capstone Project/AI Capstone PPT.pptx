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16" r:id="rId1"/>
  </p:sldMasterIdLst>
  <p:sldIdLst>
    <p:sldId id="256" r:id="rId2"/>
    <p:sldId id="275" r:id="rId3"/>
    <p:sldId id="266" r:id="rId4"/>
    <p:sldId id="274" r:id="rId5"/>
    <p:sldId id="276" r:id="rId6"/>
    <p:sldId id="279" r:id="rId7"/>
    <p:sldId id="263" r:id="rId8"/>
    <p:sldId id="264" r:id="rId9"/>
    <p:sldId id="265" r:id="rId10"/>
    <p:sldId id="268" r:id="rId11"/>
    <p:sldId id="269" r:id="rId12"/>
    <p:sldId id="277" r:id="rId13"/>
    <p:sldId id="273" r:id="rId14"/>
    <p:sldId id="272" r:id="rId15"/>
    <p:sldId id="262" r:id="rId16"/>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6F8960-85B7-4066-93A9-274A3981B17F}" v="46" dt="2026-07-25T04:17:44.08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ja hussain" userId="4e1fe78a519a1d22" providerId="LiveId" clId="{BFEA681B-A70F-4ED4-9D02-8CC26EF55A59}"/>
    <pc:docChg chg="undo custSel addSld delSld modSld sldOrd">
      <pc:chgData name="khaja hussain" userId="4e1fe78a519a1d22" providerId="LiveId" clId="{BFEA681B-A70F-4ED4-9D02-8CC26EF55A59}" dt="2026-07-25T04:17:46.558" v="646" actId="20577"/>
      <pc:docMkLst>
        <pc:docMk/>
      </pc:docMkLst>
      <pc:sldChg chg="addSp modSp mod">
        <pc:chgData name="khaja hussain" userId="4e1fe78a519a1d22" providerId="LiveId" clId="{BFEA681B-A70F-4ED4-9D02-8CC26EF55A59}" dt="2026-07-25T03:45:02.856" v="417" actId="207"/>
        <pc:sldMkLst>
          <pc:docMk/>
          <pc:sldMk cId="0" sldId="256"/>
        </pc:sldMkLst>
        <pc:spChg chg="add mod">
          <ac:chgData name="khaja hussain" userId="4e1fe78a519a1d22" providerId="LiveId" clId="{BFEA681B-A70F-4ED4-9D02-8CC26EF55A59}" dt="2026-07-25T03:45:02.856" v="417" actId="207"/>
          <ac:spMkLst>
            <pc:docMk/>
            <pc:sldMk cId="0" sldId="256"/>
            <ac:spMk id="2" creationId="{3B429E37-9E7A-2FEE-F8E1-100E4487BE9F}"/>
          </ac:spMkLst>
        </pc:spChg>
        <pc:spChg chg="mod">
          <ac:chgData name="khaja hussain" userId="4e1fe78a519a1d22" providerId="LiveId" clId="{BFEA681B-A70F-4ED4-9D02-8CC26EF55A59}" dt="2026-07-25T03:32:03.430" v="305" actId="404"/>
          <ac:spMkLst>
            <pc:docMk/>
            <pc:sldMk cId="0" sldId="256"/>
            <ac:spMk id="3" creationId="{00000000-0000-0000-0000-000000000000}"/>
          </ac:spMkLst>
        </pc:spChg>
        <pc:spChg chg="mod">
          <ac:chgData name="khaja hussain" userId="4e1fe78a519a1d22" providerId="LiveId" clId="{BFEA681B-A70F-4ED4-9D02-8CC26EF55A59}" dt="2026-07-25T03:31:27.023" v="303" actId="1076"/>
          <ac:spMkLst>
            <pc:docMk/>
            <pc:sldMk cId="0" sldId="256"/>
            <ac:spMk id="4" creationId="{00000000-0000-0000-0000-000000000000}"/>
          </ac:spMkLst>
        </pc:spChg>
      </pc:sldChg>
      <pc:sldChg chg="modSp del mod">
        <pc:chgData name="khaja hussain" userId="4e1fe78a519a1d22" providerId="LiveId" clId="{BFEA681B-A70F-4ED4-9D02-8CC26EF55A59}" dt="2026-07-25T03:42:15.428" v="386" actId="47"/>
        <pc:sldMkLst>
          <pc:docMk/>
          <pc:sldMk cId="0" sldId="257"/>
        </pc:sldMkLst>
        <pc:spChg chg="mod">
          <ac:chgData name="khaja hussain" userId="4e1fe78a519a1d22" providerId="LiveId" clId="{BFEA681B-A70F-4ED4-9D02-8CC26EF55A59}" dt="2026-07-25T03:33:38.579" v="326" actId="1076"/>
          <ac:spMkLst>
            <pc:docMk/>
            <pc:sldMk cId="0" sldId="257"/>
            <ac:spMk id="4" creationId="{00000000-0000-0000-0000-000000000000}"/>
          </ac:spMkLst>
        </pc:spChg>
        <pc:spChg chg="mod">
          <ac:chgData name="khaja hussain" userId="4e1fe78a519a1d22" providerId="LiveId" clId="{BFEA681B-A70F-4ED4-9D02-8CC26EF55A59}" dt="2026-07-25T03:36:17.526" v="345" actId="20577"/>
          <ac:spMkLst>
            <pc:docMk/>
            <pc:sldMk cId="0" sldId="257"/>
            <ac:spMk id="6" creationId="{00000000-0000-0000-0000-000000000000}"/>
          </ac:spMkLst>
        </pc:spChg>
        <pc:picChg chg="mod">
          <ac:chgData name="khaja hussain" userId="4e1fe78a519a1d22" providerId="LiveId" clId="{BFEA681B-A70F-4ED4-9D02-8CC26EF55A59}" dt="2026-07-25T03:34:14.530" v="328" actId="1076"/>
          <ac:picMkLst>
            <pc:docMk/>
            <pc:sldMk cId="0" sldId="257"/>
            <ac:picMk id="3" creationId="{00000000-0000-0000-0000-000000000000}"/>
          </ac:picMkLst>
        </pc:picChg>
      </pc:sldChg>
      <pc:sldChg chg="del">
        <pc:chgData name="khaja hussain" userId="4e1fe78a519a1d22" providerId="LiveId" clId="{BFEA681B-A70F-4ED4-9D02-8CC26EF55A59}" dt="2026-07-25T03:42:17.881" v="387" actId="47"/>
        <pc:sldMkLst>
          <pc:docMk/>
          <pc:sldMk cId="0" sldId="258"/>
        </pc:sldMkLst>
      </pc:sldChg>
      <pc:sldChg chg="del">
        <pc:chgData name="khaja hussain" userId="4e1fe78a519a1d22" providerId="LiveId" clId="{BFEA681B-A70F-4ED4-9D02-8CC26EF55A59}" dt="2026-07-25T03:45:55.804" v="423" actId="47"/>
        <pc:sldMkLst>
          <pc:docMk/>
          <pc:sldMk cId="0" sldId="260"/>
        </pc:sldMkLst>
      </pc:sldChg>
      <pc:sldChg chg="del">
        <pc:chgData name="khaja hussain" userId="4e1fe78a519a1d22" providerId="LiveId" clId="{BFEA681B-A70F-4ED4-9D02-8CC26EF55A59}" dt="2026-07-25T03:45:58.180" v="424" actId="47"/>
        <pc:sldMkLst>
          <pc:docMk/>
          <pc:sldMk cId="0" sldId="261"/>
        </pc:sldMkLst>
      </pc:sldChg>
      <pc:sldChg chg="addSp delSp modSp add mod">
        <pc:chgData name="khaja hussain" userId="4e1fe78a519a1d22" providerId="LiveId" clId="{BFEA681B-A70F-4ED4-9D02-8CC26EF55A59}" dt="2026-07-25T04:17:46.558" v="646" actId="20577"/>
        <pc:sldMkLst>
          <pc:docMk/>
          <pc:sldMk cId="1666536429" sldId="263"/>
        </pc:sldMkLst>
        <pc:spChg chg="mod">
          <ac:chgData name="khaja hussain" userId="4e1fe78a519a1d22" providerId="LiveId" clId="{BFEA681B-A70F-4ED4-9D02-8CC26EF55A59}" dt="2026-07-25T04:17:46.558" v="646" actId="20577"/>
          <ac:spMkLst>
            <pc:docMk/>
            <pc:sldMk cId="1666536429" sldId="263"/>
            <ac:spMk id="6" creationId="{94764363-38B9-A7DB-0C37-E865A004E609}"/>
          </ac:spMkLst>
        </pc:spChg>
        <pc:spChg chg="add del">
          <ac:chgData name="khaja hussain" userId="4e1fe78a519a1d22" providerId="LiveId" clId="{BFEA681B-A70F-4ED4-9D02-8CC26EF55A59}" dt="2026-07-25T03:51:16.291" v="457" actId="22"/>
          <ac:spMkLst>
            <pc:docMk/>
            <pc:sldMk cId="1666536429" sldId="263"/>
            <ac:spMk id="7" creationId="{E4F58799-1259-2FC7-25A4-6B1DBEBAB5BD}"/>
          </ac:spMkLst>
        </pc:spChg>
      </pc:sldChg>
      <pc:sldChg chg="add del">
        <pc:chgData name="khaja hussain" userId="4e1fe78a519a1d22" providerId="LiveId" clId="{BFEA681B-A70F-4ED4-9D02-8CC26EF55A59}" dt="2026-07-25T03:45:54.056" v="422" actId="47"/>
        <pc:sldMkLst>
          <pc:docMk/>
          <pc:sldMk cId="2268226782" sldId="264"/>
        </pc:sldMkLst>
      </pc:sldChg>
      <pc:sldChg chg="addSp delSp modSp add mod">
        <pc:chgData name="khaja hussain" userId="4e1fe78a519a1d22" providerId="LiveId" clId="{BFEA681B-A70F-4ED4-9D02-8CC26EF55A59}" dt="2026-07-25T03:51:07.187" v="455" actId="22"/>
        <pc:sldMkLst>
          <pc:docMk/>
          <pc:sldMk cId="2332920405" sldId="264"/>
        </pc:sldMkLst>
        <pc:spChg chg="mod">
          <ac:chgData name="khaja hussain" userId="4e1fe78a519a1d22" providerId="LiveId" clId="{BFEA681B-A70F-4ED4-9D02-8CC26EF55A59}" dt="2026-07-25T03:46:49.193" v="427" actId="14100"/>
          <ac:spMkLst>
            <pc:docMk/>
            <pc:sldMk cId="2332920405" sldId="264"/>
            <ac:spMk id="4" creationId="{D45A0763-4946-21FE-7D00-BBBF7567EB9A}"/>
          </ac:spMkLst>
        </pc:spChg>
        <pc:spChg chg="mod">
          <ac:chgData name="khaja hussain" userId="4e1fe78a519a1d22" providerId="LiveId" clId="{BFEA681B-A70F-4ED4-9D02-8CC26EF55A59}" dt="2026-07-25T03:50:56.068" v="453" actId="1076"/>
          <ac:spMkLst>
            <pc:docMk/>
            <pc:sldMk cId="2332920405" sldId="264"/>
            <ac:spMk id="6" creationId="{76B2B63A-835C-44A5-31F2-2B356AECB769}"/>
          </ac:spMkLst>
        </pc:spChg>
        <pc:spChg chg="add del">
          <ac:chgData name="khaja hussain" userId="4e1fe78a519a1d22" providerId="LiveId" clId="{BFEA681B-A70F-4ED4-9D02-8CC26EF55A59}" dt="2026-07-25T03:51:07.187" v="455" actId="22"/>
          <ac:spMkLst>
            <pc:docMk/>
            <pc:sldMk cId="2332920405" sldId="264"/>
            <ac:spMk id="7" creationId="{3A1EA011-018B-5931-5288-B2B6E22FB160}"/>
          </ac:spMkLst>
        </pc:spChg>
      </pc:sldChg>
      <pc:sldChg chg="modSp add mod">
        <pc:chgData name="khaja hussain" userId="4e1fe78a519a1d22" providerId="LiveId" clId="{BFEA681B-A70F-4ED4-9D02-8CC26EF55A59}" dt="2026-07-25T03:53:31.610" v="472" actId="12"/>
        <pc:sldMkLst>
          <pc:docMk/>
          <pc:sldMk cId="2903896393" sldId="265"/>
        </pc:sldMkLst>
        <pc:spChg chg="mod">
          <ac:chgData name="khaja hussain" userId="4e1fe78a519a1d22" providerId="LiveId" clId="{BFEA681B-A70F-4ED4-9D02-8CC26EF55A59}" dt="2026-07-25T03:51:36.046" v="459"/>
          <ac:spMkLst>
            <pc:docMk/>
            <pc:sldMk cId="2903896393" sldId="265"/>
            <ac:spMk id="4" creationId="{E5158DE0-76F6-7616-D8A9-C956698E97D7}"/>
          </ac:spMkLst>
        </pc:spChg>
        <pc:spChg chg="mod">
          <ac:chgData name="khaja hussain" userId="4e1fe78a519a1d22" providerId="LiveId" clId="{BFEA681B-A70F-4ED4-9D02-8CC26EF55A59}" dt="2026-07-25T03:53:31.610" v="472" actId="12"/>
          <ac:spMkLst>
            <pc:docMk/>
            <pc:sldMk cId="2903896393" sldId="265"/>
            <ac:spMk id="6" creationId="{7EBB5575-21B9-DF95-825C-1AE0EE8F3E51}"/>
          </ac:spMkLst>
        </pc:spChg>
      </pc:sldChg>
      <pc:sldChg chg="modSp add mod ord">
        <pc:chgData name="khaja hussain" userId="4e1fe78a519a1d22" providerId="LiveId" clId="{BFEA681B-A70F-4ED4-9D02-8CC26EF55A59}" dt="2026-07-25T03:56:15.998" v="492"/>
        <pc:sldMkLst>
          <pc:docMk/>
          <pc:sldMk cId="3207201669" sldId="266"/>
        </pc:sldMkLst>
        <pc:spChg chg="mod">
          <ac:chgData name="khaja hussain" userId="4e1fe78a519a1d22" providerId="LiveId" clId="{BFEA681B-A70F-4ED4-9D02-8CC26EF55A59}" dt="2026-07-25T03:54:34.427" v="478" actId="1076"/>
          <ac:spMkLst>
            <pc:docMk/>
            <pc:sldMk cId="3207201669" sldId="266"/>
            <ac:spMk id="4" creationId="{05349236-B16D-B2C5-B55D-4736B2FD90ED}"/>
          </ac:spMkLst>
        </pc:spChg>
        <pc:spChg chg="mod">
          <ac:chgData name="khaja hussain" userId="4e1fe78a519a1d22" providerId="LiveId" clId="{BFEA681B-A70F-4ED4-9D02-8CC26EF55A59}" dt="2026-07-25T03:56:02.313" v="490" actId="12"/>
          <ac:spMkLst>
            <pc:docMk/>
            <pc:sldMk cId="3207201669" sldId="266"/>
            <ac:spMk id="6" creationId="{A4A3B8E5-3890-7033-078D-2B2BB079F3A1}"/>
          </ac:spMkLst>
        </pc:spChg>
      </pc:sldChg>
      <pc:sldChg chg="modSp add del mod ord">
        <pc:chgData name="khaja hussain" userId="4e1fe78a519a1d22" providerId="LiveId" clId="{BFEA681B-A70F-4ED4-9D02-8CC26EF55A59}" dt="2026-07-25T04:01:34.441" v="499" actId="47"/>
        <pc:sldMkLst>
          <pc:docMk/>
          <pc:sldMk cId="1957088976" sldId="267"/>
        </pc:sldMkLst>
        <pc:spChg chg="mod">
          <ac:chgData name="khaja hussain" userId="4e1fe78a519a1d22" providerId="LiveId" clId="{BFEA681B-A70F-4ED4-9D02-8CC26EF55A59}" dt="2026-07-25T04:01:16.793" v="497" actId="20577"/>
          <ac:spMkLst>
            <pc:docMk/>
            <pc:sldMk cId="1957088976" sldId="267"/>
            <ac:spMk id="4" creationId="{E5B938B7-E963-FC8C-CE89-32250A678AEC}"/>
          </ac:spMkLst>
        </pc:spChg>
      </pc:sldChg>
      <pc:sldChg chg="modSp add mod">
        <pc:chgData name="khaja hussain" userId="4e1fe78a519a1d22" providerId="LiveId" clId="{BFEA681B-A70F-4ED4-9D02-8CC26EF55A59}" dt="2026-07-25T04:03:27.176" v="517" actId="1076"/>
        <pc:sldMkLst>
          <pc:docMk/>
          <pc:sldMk cId="2457995318" sldId="268"/>
        </pc:sldMkLst>
        <pc:spChg chg="mod">
          <ac:chgData name="khaja hussain" userId="4e1fe78a519a1d22" providerId="LiveId" clId="{BFEA681B-A70F-4ED4-9D02-8CC26EF55A59}" dt="2026-07-25T04:02:08.809" v="505" actId="14100"/>
          <ac:spMkLst>
            <pc:docMk/>
            <pc:sldMk cId="2457995318" sldId="268"/>
            <ac:spMk id="4" creationId="{9A9F4EE6-A94A-48C9-353E-9BC659DA8394}"/>
          </ac:spMkLst>
        </pc:spChg>
        <pc:spChg chg="mod">
          <ac:chgData name="khaja hussain" userId="4e1fe78a519a1d22" providerId="LiveId" clId="{BFEA681B-A70F-4ED4-9D02-8CC26EF55A59}" dt="2026-07-25T04:03:27.176" v="517" actId="1076"/>
          <ac:spMkLst>
            <pc:docMk/>
            <pc:sldMk cId="2457995318" sldId="268"/>
            <ac:spMk id="6" creationId="{3F54F4A9-E80E-204C-7BAD-413F518DFD53}"/>
          </ac:spMkLst>
        </pc:spChg>
      </pc:sldChg>
      <pc:sldChg chg="add del">
        <pc:chgData name="khaja hussain" userId="4e1fe78a519a1d22" providerId="LiveId" clId="{BFEA681B-A70F-4ED4-9D02-8CC26EF55A59}" dt="2026-07-25T04:01:49.056" v="503"/>
        <pc:sldMkLst>
          <pc:docMk/>
          <pc:sldMk cId="3354619650" sldId="269"/>
        </pc:sldMkLst>
      </pc:sldChg>
      <pc:sldChg chg="addSp delSp modSp add mod">
        <pc:chgData name="khaja hussain" userId="4e1fe78a519a1d22" providerId="LiveId" clId="{BFEA681B-A70F-4ED4-9D02-8CC26EF55A59}" dt="2026-07-25T04:12:30.479" v="596" actId="20577"/>
        <pc:sldMkLst>
          <pc:docMk/>
          <pc:sldMk cId="3960794468" sldId="269"/>
        </pc:sldMkLst>
        <pc:spChg chg="mod">
          <ac:chgData name="khaja hussain" userId="4e1fe78a519a1d22" providerId="LiveId" clId="{BFEA681B-A70F-4ED4-9D02-8CC26EF55A59}" dt="2026-07-25T04:09:05.520" v="592" actId="1076"/>
          <ac:spMkLst>
            <pc:docMk/>
            <pc:sldMk cId="3960794468" sldId="269"/>
            <ac:spMk id="4" creationId="{9106AC19-B951-AFD8-7BBF-584E5F811699}"/>
          </ac:spMkLst>
        </pc:spChg>
        <pc:spChg chg="del mod">
          <ac:chgData name="khaja hussain" userId="4e1fe78a519a1d22" providerId="LiveId" clId="{BFEA681B-A70F-4ED4-9D02-8CC26EF55A59}" dt="2026-07-25T04:05:16.052" v="522"/>
          <ac:spMkLst>
            <pc:docMk/>
            <pc:sldMk cId="3960794468" sldId="269"/>
            <ac:spMk id="6" creationId="{AF4790A2-7AF4-1E91-959A-E5768783D7F8}"/>
          </ac:spMkLst>
        </pc:spChg>
        <pc:graphicFrameChg chg="add mod">
          <ac:chgData name="khaja hussain" userId="4e1fe78a519a1d22" providerId="LiveId" clId="{BFEA681B-A70F-4ED4-9D02-8CC26EF55A59}" dt="2026-07-25T04:05:08.007" v="519"/>
          <ac:graphicFrameMkLst>
            <pc:docMk/>
            <pc:sldMk cId="3960794468" sldId="269"/>
            <ac:graphicFrameMk id="5" creationId="{3EE17AC7-F280-5785-E7FB-E8124BB7810E}"/>
          </ac:graphicFrameMkLst>
        </pc:graphicFrameChg>
        <pc:graphicFrameChg chg="add mod modGraphic">
          <ac:chgData name="khaja hussain" userId="4e1fe78a519a1d22" providerId="LiveId" clId="{BFEA681B-A70F-4ED4-9D02-8CC26EF55A59}" dt="2026-07-25T04:09:09.698" v="593" actId="1076"/>
          <ac:graphicFrameMkLst>
            <pc:docMk/>
            <pc:sldMk cId="3960794468" sldId="269"/>
            <ac:graphicFrameMk id="7" creationId="{755411A6-F5A8-E22F-1388-405192408DE6}"/>
          </ac:graphicFrameMkLst>
        </pc:graphicFrameChg>
        <pc:graphicFrameChg chg="add mod modGraphic">
          <ac:chgData name="khaja hussain" userId="4e1fe78a519a1d22" providerId="LiveId" clId="{BFEA681B-A70F-4ED4-9D02-8CC26EF55A59}" dt="2026-07-25T04:12:30.479" v="596" actId="20577"/>
          <ac:graphicFrameMkLst>
            <pc:docMk/>
            <pc:sldMk cId="3960794468" sldId="269"/>
            <ac:graphicFrameMk id="8" creationId="{B5FE7010-526F-5E63-B570-D4B219B60DA0}"/>
          </ac:graphicFrameMkLst>
        </pc:graphicFrame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B6F15528-21DE-4FAA-801E-634DDDAF4B2B}"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051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03626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9884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94516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7375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2220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09052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9627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46150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767336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7433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1364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09812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6579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3425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1395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39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t>8/27/2026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418607902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hyperlink" Target="mailto:john@gmail.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96607" y="2438400"/>
            <a:ext cx="10598785" cy="1436932"/>
          </a:xfrm>
          <a:prstGeom prst="rect">
            <a:avLst/>
          </a:prstGeom>
        </p:spPr>
        <p:txBody>
          <a:bodyPr vert="horz" wrap="square" lIns="0" tIns="13335" rIns="0" bIns="0" rtlCol="0">
            <a:spAutoFit/>
          </a:bodyPr>
          <a:lstStyle/>
          <a:p>
            <a:pPr marR="561340" algn="ctr">
              <a:lnSpc>
                <a:spcPct val="100000"/>
              </a:lnSpc>
            </a:pPr>
            <a:r>
              <a:rPr lang="en-US" sz="3200" spc="-25" dirty="0">
                <a:solidFill>
                  <a:schemeClr val="accent4"/>
                </a:solidFill>
                <a:latin typeface="Times New Roman"/>
                <a:cs typeface="Times New Roman"/>
              </a:rPr>
              <a:t>AI Resume Screening System</a:t>
            </a:r>
            <a:endParaRPr lang="en-IN" sz="2400" b="1" spc="-25" dirty="0">
              <a:solidFill>
                <a:schemeClr val="accent4"/>
              </a:solidFill>
              <a:latin typeface="Times New Roman"/>
              <a:cs typeface="Times New Roman"/>
            </a:endParaRPr>
          </a:p>
          <a:p>
            <a:pPr marR="561340" algn="ctr">
              <a:lnSpc>
                <a:spcPct val="100000"/>
              </a:lnSpc>
            </a:pPr>
            <a:r>
              <a:rPr lang="en-IN" sz="2000" b="1" spc="-25" dirty="0">
                <a:latin typeface="Times New Roman"/>
                <a:cs typeface="Times New Roman"/>
              </a:rPr>
              <a:t>CSA1711</a:t>
            </a:r>
            <a:r>
              <a:rPr sz="2400" spc="-25" dirty="0">
                <a:latin typeface="Times New Roman"/>
                <a:cs typeface="Times New Roman"/>
              </a:rPr>
              <a:t>-</a:t>
            </a:r>
            <a:r>
              <a:rPr lang="en-IN" sz="2400" spc="-25" dirty="0">
                <a:latin typeface="Times New Roman"/>
                <a:cs typeface="Times New Roman"/>
              </a:rPr>
              <a:t>Artificial Intelligence </a:t>
            </a:r>
            <a:endParaRPr sz="2400" dirty="0">
              <a:latin typeface="Times New Roman"/>
              <a:cs typeface="Times New Roman"/>
            </a:endParaRPr>
          </a:p>
          <a:p>
            <a:pPr marR="558800" algn="ctr">
              <a:lnSpc>
                <a:spcPct val="100000"/>
              </a:lnSpc>
              <a:spcBef>
                <a:spcPts val="1545"/>
              </a:spcBef>
            </a:pPr>
            <a:r>
              <a:rPr sz="2400" b="1" dirty="0">
                <a:latin typeface="Times New Roman"/>
                <a:cs typeface="Times New Roman"/>
              </a:rPr>
              <a:t>Course</a:t>
            </a:r>
            <a:r>
              <a:rPr sz="2400" b="1" spc="-70" dirty="0">
                <a:latin typeface="Times New Roman"/>
                <a:cs typeface="Times New Roman"/>
              </a:rPr>
              <a:t> </a:t>
            </a:r>
            <a:r>
              <a:rPr sz="2400" b="1" dirty="0">
                <a:latin typeface="Times New Roman"/>
                <a:cs typeface="Times New Roman"/>
              </a:rPr>
              <a:t>Faculty:</a:t>
            </a:r>
            <a:r>
              <a:rPr sz="2400" b="1" spc="-70" dirty="0">
                <a:latin typeface="Times New Roman"/>
                <a:cs typeface="Times New Roman"/>
              </a:rPr>
              <a:t> </a:t>
            </a:r>
            <a:r>
              <a:rPr sz="2400" spc="-10" dirty="0">
                <a:latin typeface="Times New Roman"/>
                <a:cs typeface="Times New Roman"/>
              </a:rPr>
              <a:t>Dr.</a:t>
            </a:r>
            <a:r>
              <a:rPr sz="2400" spc="-65" dirty="0">
                <a:latin typeface="Times New Roman"/>
                <a:cs typeface="Times New Roman"/>
              </a:rPr>
              <a:t> </a:t>
            </a:r>
            <a:r>
              <a:rPr lang="en-IN" sz="2400" spc="-10" dirty="0">
                <a:latin typeface="Times New Roman"/>
                <a:cs typeface="Times New Roman"/>
              </a:rPr>
              <a:t>Krishna Kumar Kathiresan</a:t>
            </a:r>
          </a:p>
        </p:txBody>
      </p:sp>
      <p:sp>
        <p:nvSpPr>
          <p:cNvPr id="4" name="object 4" descr="$PPTXTitle"/>
          <p:cNvSpPr txBox="1">
            <a:spLocks noGrp="1"/>
          </p:cNvSpPr>
          <p:nvPr>
            <p:ph type="title"/>
          </p:nvPr>
        </p:nvSpPr>
        <p:spPr>
          <a:xfrm>
            <a:off x="1219200" y="1458586"/>
            <a:ext cx="10515600" cy="737971"/>
          </a:xfrm>
          <a:prstGeom prst="rect">
            <a:avLst/>
          </a:prstGeom>
        </p:spPr>
        <p:txBody>
          <a:bodyPr vert="horz" wrap="square" lIns="0" tIns="304114" rIns="0" bIns="0" rtlCol="0">
            <a:spAutoFit/>
          </a:bodyPr>
          <a:lstStyle/>
          <a:p>
            <a:pPr marL="12700" algn="l">
              <a:lnSpc>
                <a:spcPct val="100000"/>
              </a:lnSpc>
              <a:spcBef>
                <a:spcPts val="105"/>
              </a:spcBef>
            </a:pPr>
            <a:r>
              <a:rPr lang="en-IN" sz="2800" dirty="0"/>
              <a:t>Capstone Project</a:t>
            </a:r>
            <a:endParaRPr sz="2800" dirty="0"/>
          </a:p>
        </p:txBody>
      </p:sp>
      <p:sp>
        <p:nvSpPr>
          <p:cNvPr id="2" name="Rectangle 1">
            <a:extLst>
              <a:ext uri="{FF2B5EF4-FFF2-40B4-BE49-F238E27FC236}">
                <a16:creationId xmlns:a16="http://schemas.microsoft.com/office/drawing/2014/main" id="{3B429E37-9E7A-2FEE-F8E1-100E4487BE9F}"/>
              </a:ext>
            </a:extLst>
          </p:cNvPr>
          <p:cNvSpPr/>
          <p:nvPr/>
        </p:nvSpPr>
        <p:spPr>
          <a:xfrm>
            <a:off x="7772400" y="3875332"/>
            <a:ext cx="4191000" cy="243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558800" algn="ctr">
              <a:lnSpc>
                <a:spcPct val="100000"/>
              </a:lnSpc>
              <a:spcBef>
                <a:spcPts val="1545"/>
              </a:spcBef>
            </a:pPr>
            <a:r>
              <a:rPr lang="en-IN" b="1" dirty="0">
                <a:solidFill>
                  <a:srgbClr val="205F9A"/>
                </a:solidFill>
                <a:latin typeface="Times New Roman"/>
                <a:cs typeface="Times New Roman"/>
              </a:rPr>
              <a:t>Presented</a:t>
            </a:r>
            <a:r>
              <a:rPr lang="en-IN" b="1" spc="-120" dirty="0">
                <a:solidFill>
                  <a:srgbClr val="205F9A"/>
                </a:solidFill>
                <a:latin typeface="Times New Roman"/>
                <a:cs typeface="Times New Roman"/>
              </a:rPr>
              <a:t> </a:t>
            </a:r>
            <a:r>
              <a:rPr lang="en-IN" b="1" spc="-25" dirty="0">
                <a:solidFill>
                  <a:srgbClr val="205F9A"/>
                </a:solidFill>
                <a:latin typeface="Times New Roman"/>
                <a:cs typeface="Times New Roman"/>
              </a:rPr>
              <a:t>By:</a:t>
            </a:r>
          </a:p>
          <a:p>
            <a:pPr marR="558800" algn="ctr">
              <a:lnSpc>
                <a:spcPct val="100000"/>
              </a:lnSpc>
              <a:spcBef>
                <a:spcPts val="1545"/>
              </a:spcBef>
            </a:pPr>
            <a:r>
              <a:rPr lang="en-IN" b="1" spc="-25" dirty="0" err="1">
                <a:solidFill>
                  <a:schemeClr val="tx1"/>
                </a:solidFill>
                <a:latin typeface="Times New Roman"/>
                <a:cs typeface="Times New Roman"/>
              </a:rPr>
              <a:t>M.S.Naveen</a:t>
            </a:r>
            <a:r>
              <a:rPr lang="en-IN" b="1" spc="-25" dirty="0">
                <a:solidFill>
                  <a:schemeClr val="tx1"/>
                </a:solidFill>
                <a:latin typeface="Times New Roman"/>
                <a:cs typeface="Times New Roman"/>
              </a:rPr>
              <a:t>(192371002)</a:t>
            </a:r>
          </a:p>
          <a:p>
            <a:pPr marR="558800" algn="ctr">
              <a:lnSpc>
                <a:spcPct val="100000"/>
              </a:lnSpc>
              <a:spcBef>
                <a:spcPts val="1545"/>
              </a:spcBef>
            </a:pPr>
            <a:r>
              <a:rPr lang="en-IN" b="1" dirty="0" err="1">
                <a:solidFill>
                  <a:schemeClr val="tx1"/>
                </a:solidFill>
                <a:latin typeface="Times New Roman"/>
                <a:cs typeface="Times New Roman"/>
              </a:rPr>
              <a:t>A.Khaja</a:t>
            </a:r>
            <a:r>
              <a:rPr lang="en-IN" b="1" dirty="0">
                <a:solidFill>
                  <a:schemeClr val="tx1"/>
                </a:solidFill>
                <a:latin typeface="Times New Roman"/>
                <a:cs typeface="Times New Roman"/>
              </a:rPr>
              <a:t> Hussain</a:t>
            </a:r>
            <a:r>
              <a:rPr lang="en-IN" dirty="0">
                <a:solidFill>
                  <a:schemeClr val="tx1"/>
                </a:solidFill>
                <a:latin typeface="Times New Roman"/>
                <a:cs typeface="Times New Roman"/>
              </a:rPr>
              <a:t>(</a:t>
            </a:r>
            <a:r>
              <a:rPr lang="en-IN" b="1" spc="-10" dirty="0">
                <a:solidFill>
                  <a:schemeClr val="tx1"/>
                </a:solidFill>
                <a:latin typeface="Times New Roman"/>
                <a:cs typeface="Times New Roman"/>
              </a:rPr>
              <a:t>192572118)</a:t>
            </a:r>
          </a:p>
          <a:p>
            <a:pPr marR="558800" algn="ctr">
              <a:lnSpc>
                <a:spcPct val="100000"/>
              </a:lnSpc>
              <a:spcBef>
                <a:spcPts val="1545"/>
              </a:spcBef>
            </a:pPr>
            <a:r>
              <a:rPr lang="en-IN" b="1" spc="-10" dirty="0" err="1">
                <a:solidFill>
                  <a:schemeClr val="tx1"/>
                </a:solidFill>
                <a:latin typeface="Times New Roman"/>
                <a:cs typeface="Times New Roman"/>
              </a:rPr>
              <a:t>P.Divakaran</a:t>
            </a:r>
            <a:r>
              <a:rPr lang="en-IN" b="1" spc="-10" dirty="0">
                <a:solidFill>
                  <a:schemeClr val="tx1"/>
                </a:solidFill>
                <a:latin typeface="Times New Roman"/>
                <a:cs typeface="Times New Roman"/>
              </a:rPr>
              <a:t>(192424260)</a:t>
            </a:r>
          </a:p>
          <a:p>
            <a:pPr marR="558800" algn="ctr">
              <a:lnSpc>
                <a:spcPct val="100000"/>
              </a:lnSpc>
              <a:spcBef>
                <a:spcPts val="1545"/>
              </a:spcBef>
            </a:pPr>
            <a:r>
              <a:rPr lang="en-IN" b="1" spc="-10" dirty="0">
                <a:solidFill>
                  <a:schemeClr val="tx1"/>
                </a:solidFill>
                <a:latin typeface="Times New Roman"/>
                <a:cs typeface="Times New Roman"/>
              </a:rPr>
              <a:t>Kishore S.P(192511081)</a:t>
            </a:r>
          </a:p>
          <a:p>
            <a:pPr marR="558800" algn="ctr">
              <a:lnSpc>
                <a:spcPct val="100000"/>
              </a:lnSpc>
              <a:spcBef>
                <a:spcPts val="1545"/>
              </a:spcBef>
            </a:pPr>
            <a:endParaRPr lang="en-IN" dirty="0">
              <a:solidFill>
                <a:schemeClr val="tx1"/>
              </a:solidFill>
              <a:latin typeface="Times New Roman"/>
              <a:cs typeface="Times New Roman"/>
            </a:endParaRPr>
          </a:p>
        </p:txBody>
      </p:sp>
      <p:pic>
        <p:nvPicPr>
          <p:cNvPr id="6" name="Picture 2" descr="SSE-Computer Science and Engineering">
            <a:extLst>
              <a:ext uri="{FF2B5EF4-FFF2-40B4-BE49-F238E27FC236}">
                <a16:creationId xmlns:a16="http://schemas.microsoft.com/office/drawing/2014/main" id="{1A8EFB51-2275-A86C-215A-01CA2FE894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3433" y="592392"/>
            <a:ext cx="9985131" cy="12192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75FB-6437-B145-55EA-5F703AB28941}"/>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7FDDF41A-DAB4-B6DF-D445-44CBB397CFB5}"/>
              </a:ext>
            </a:extLst>
          </p:cNvPr>
          <p:cNvPicPr/>
          <p:nvPr/>
        </p:nvPicPr>
        <p:blipFill>
          <a:blip r:embed="rId2"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05349236-B16D-B2C5-B55D-4736B2FD90ED}"/>
              </a:ext>
            </a:extLst>
          </p:cNvPr>
          <p:cNvSpPr txBox="1">
            <a:spLocks noGrp="1"/>
          </p:cNvSpPr>
          <p:nvPr>
            <p:ph type="title"/>
          </p:nvPr>
        </p:nvSpPr>
        <p:spPr>
          <a:xfrm>
            <a:off x="2362200" y="513924"/>
            <a:ext cx="8077200" cy="690574"/>
          </a:xfrm>
          <a:prstGeom prst="rect">
            <a:avLst/>
          </a:prstGeom>
        </p:spPr>
        <p:txBody>
          <a:bodyPr vert="horz" wrap="square" lIns="0" tIns="13335" rIns="0" bIns="0" rtlCol="0">
            <a:spAutoFit/>
          </a:bodyPr>
          <a:lstStyle/>
          <a:p>
            <a:r>
              <a:rPr lang="en-IN" b="1" dirty="0"/>
              <a:t>Introduction</a:t>
            </a:r>
          </a:p>
        </p:txBody>
      </p:sp>
      <p:sp>
        <p:nvSpPr>
          <p:cNvPr id="6" name="object 6">
            <a:extLst>
              <a:ext uri="{FF2B5EF4-FFF2-40B4-BE49-F238E27FC236}">
                <a16:creationId xmlns:a16="http://schemas.microsoft.com/office/drawing/2014/main" id="{A4A3B8E5-3890-7033-078D-2B2BB079F3A1}"/>
              </a:ext>
            </a:extLst>
          </p:cNvPr>
          <p:cNvSpPr txBox="1"/>
          <p:nvPr/>
        </p:nvSpPr>
        <p:spPr>
          <a:xfrm>
            <a:off x="1066800" y="1263492"/>
            <a:ext cx="9601200" cy="4389471"/>
          </a:xfrm>
          <a:prstGeom prst="rect">
            <a:avLst/>
          </a:prstGeom>
        </p:spPr>
        <p:txBody>
          <a:bodyPr vert="horz" wrap="square" lIns="0" tIns="12700" rIns="0" bIns="0" rtlCol="0">
            <a:spAutoFit/>
          </a:bodyPr>
          <a:lstStyle/>
          <a:p>
            <a:pPr marL="2540" algn="just">
              <a:lnSpc>
                <a:spcPct val="150000"/>
              </a:lnSpc>
              <a:spcBef>
                <a:spcPts val="100"/>
              </a:spcBef>
              <a:buSzPct val="94444"/>
              <a:tabLst>
                <a:tab pos="91440" algn="l"/>
              </a:tabLst>
            </a:pPr>
            <a:r>
              <a:rPr lang="en-US" sz="2400" dirty="0"/>
              <a:t>The </a:t>
            </a:r>
            <a:r>
              <a:rPr lang="en-US" sz="2400" b="1" dirty="0"/>
              <a:t>AI Resume Screening System</a:t>
            </a:r>
            <a:r>
              <a:rPr lang="en-US" sz="2400" dirty="0"/>
              <a:t> is an intelligent recruitment solution designed to automate and improve the process of evaluating job applicants. Traditional resume screening is often time-consuming, labor-intensive, and prone to human bias, especially when recruiters must review a large number of applications. This project addresses these challenges by leveraging </a:t>
            </a:r>
            <a:r>
              <a:rPr lang="en-US" sz="2400" b="1" dirty="0"/>
              <a:t>Artificial Intelligence (AI)</a:t>
            </a:r>
            <a:r>
              <a:rPr lang="en-US" sz="2400" dirty="0"/>
              <a:t> and </a:t>
            </a:r>
            <a:r>
              <a:rPr lang="en-US" sz="2400" b="1" dirty="0"/>
              <a:t>Natural Language Processing (NLP)</a:t>
            </a:r>
            <a:r>
              <a:rPr lang="en-US" sz="2400" dirty="0"/>
              <a:t> to analyze resumes, extract relevant candidate information, and compare it with job requirements.</a:t>
            </a:r>
            <a:endParaRPr lang="en-US" sz="2400" dirty="0">
              <a:latin typeface="Times New Roman"/>
              <a:cs typeface="Times New Roman"/>
            </a:endParaRPr>
          </a:p>
        </p:txBody>
      </p:sp>
      <p:pic>
        <p:nvPicPr>
          <p:cNvPr id="5" name="object 2">
            <a:extLst>
              <a:ext uri="{FF2B5EF4-FFF2-40B4-BE49-F238E27FC236}">
                <a16:creationId xmlns:a16="http://schemas.microsoft.com/office/drawing/2014/main" id="{4106A194-E7A9-5BAA-C365-28DB8ECE040E}"/>
              </a:ext>
            </a:extLst>
          </p:cNvPr>
          <p:cNvPicPr/>
          <p:nvPr/>
        </p:nvPicPr>
        <p:blipFill>
          <a:blip r:embed="rId3" cstate="print"/>
          <a:stretch>
            <a:fillRect/>
          </a:stretch>
        </p:blipFill>
        <p:spPr>
          <a:xfrm>
            <a:off x="10671938" y="0"/>
            <a:ext cx="1520062" cy="1342897"/>
          </a:xfrm>
          <a:prstGeom prst="rect">
            <a:avLst/>
          </a:prstGeom>
        </p:spPr>
      </p:pic>
    </p:spTree>
    <p:extLst>
      <p:ext uri="{BB962C8B-B14F-4D97-AF65-F5344CB8AC3E}">
        <p14:creationId xmlns:p14="http://schemas.microsoft.com/office/powerpoint/2010/main" val="965341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75FB-6437-B145-55EA-5F703AB28941}"/>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0E8AE863-BDD7-855C-F534-5FE049956F6B}"/>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7FDDF41A-DAB4-B6DF-D445-44CBB397CFB5}"/>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05349236-B16D-B2C5-B55D-4736B2FD90ED}"/>
              </a:ext>
            </a:extLst>
          </p:cNvPr>
          <p:cNvSpPr txBox="1">
            <a:spLocks noGrp="1"/>
          </p:cNvSpPr>
          <p:nvPr>
            <p:ph type="title"/>
          </p:nvPr>
        </p:nvSpPr>
        <p:spPr>
          <a:xfrm>
            <a:off x="2362200" y="637035"/>
            <a:ext cx="8077200" cy="444352"/>
          </a:xfrm>
          <a:prstGeom prst="rect">
            <a:avLst/>
          </a:prstGeom>
        </p:spPr>
        <p:txBody>
          <a:bodyPr vert="horz" wrap="square" lIns="0" tIns="13335" rIns="0" bIns="0" rtlCol="0">
            <a:spAutoFit/>
          </a:bodyPr>
          <a:lstStyle/>
          <a:p>
            <a:pPr marL="12700">
              <a:lnSpc>
                <a:spcPct val="100000"/>
              </a:lnSpc>
              <a:spcBef>
                <a:spcPts val="105"/>
              </a:spcBef>
            </a:pPr>
            <a:r>
              <a:rPr lang="en-US" sz="2800" dirty="0">
                <a:latin typeface="Times New Roman"/>
                <a:cs typeface="Times New Roman"/>
              </a:rPr>
              <a:t> Objective of the AI Resume Screening System</a:t>
            </a:r>
            <a:endParaRPr sz="2800" dirty="0"/>
          </a:p>
        </p:txBody>
      </p:sp>
      <p:sp>
        <p:nvSpPr>
          <p:cNvPr id="6" name="object 6">
            <a:extLst>
              <a:ext uri="{FF2B5EF4-FFF2-40B4-BE49-F238E27FC236}">
                <a16:creationId xmlns:a16="http://schemas.microsoft.com/office/drawing/2014/main" id="{A4A3B8E5-3890-7033-078D-2B2BB079F3A1}"/>
              </a:ext>
            </a:extLst>
          </p:cNvPr>
          <p:cNvSpPr txBox="1"/>
          <p:nvPr/>
        </p:nvSpPr>
        <p:spPr>
          <a:xfrm>
            <a:off x="1066800" y="1501877"/>
            <a:ext cx="9601200" cy="3741024"/>
          </a:xfrm>
          <a:prstGeom prst="rect">
            <a:avLst/>
          </a:prstGeom>
        </p:spPr>
        <p:txBody>
          <a:bodyPr vert="horz" wrap="square" lIns="0" tIns="12700" rIns="0" bIns="0" rtlCol="0">
            <a:spAutoFit/>
          </a:bodyPr>
          <a:lstStyle/>
          <a:p>
            <a:pPr marL="2540" algn="just">
              <a:lnSpc>
                <a:spcPct val="150000"/>
              </a:lnSpc>
              <a:spcBef>
                <a:spcPts val="100"/>
              </a:spcBef>
              <a:buSzPct val="94444"/>
              <a:tabLst>
                <a:tab pos="91440" algn="l"/>
              </a:tabLst>
            </a:pPr>
            <a:r>
              <a:rPr lang="en-US" dirty="0">
                <a:latin typeface="Times New Roman"/>
                <a:cs typeface="Times New Roman"/>
              </a:rPr>
              <a:t>The primary objective of the AI Resume Screening System is to automate and improve the resume screening process using Artificial Intelligence (AI) and Natural Language Processing (NLP). The system analyzes resumes, extracts relevant information, compares candidate qualifications with job requirements, and ranks applicants based on their suitability. This helps recruiters reduce manual effort, minimize bias, save time, and identify the most qualified candidates more efficiently.</a:t>
            </a:r>
          </a:p>
          <a:p>
            <a:pPr marL="2540" algn="just">
              <a:lnSpc>
                <a:spcPct val="150000"/>
              </a:lnSpc>
              <a:spcBef>
                <a:spcPts val="100"/>
              </a:spcBef>
              <a:buSzPct val="94444"/>
              <a:tabLst>
                <a:tab pos="91440" algn="l"/>
              </a:tabLst>
            </a:pPr>
            <a:r>
              <a:rPr lang="en-US" dirty="0">
                <a:latin typeface="Times New Roman"/>
                <a:cs typeface="Times New Roman"/>
              </a:rPr>
              <a:t>Key Objectives:</a:t>
            </a:r>
          </a:p>
          <a:p>
            <a:pPr marL="288290" indent="-285750" algn="just">
              <a:lnSpc>
                <a:spcPct val="150000"/>
              </a:lnSpc>
              <a:spcBef>
                <a:spcPts val="100"/>
              </a:spcBef>
              <a:buSzPct val="94444"/>
              <a:buFont typeface="Arial" panose="020B0604020202020204" pitchFamily="34" charset="0"/>
              <a:buChar char="•"/>
              <a:tabLst>
                <a:tab pos="91440" algn="l"/>
              </a:tabLst>
            </a:pPr>
            <a:r>
              <a:rPr lang="en-US" dirty="0">
                <a:latin typeface="Times New Roman"/>
                <a:cs typeface="Times New Roman"/>
              </a:rPr>
              <a:t>Automate the resume screening and shortlisting process.</a:t>
            </a:r>
          </a:p>
          <a:p>
            <a:pPr marL="288290" indent="-285750" algn="just">
              <a:lnSpc>
                <a:spcPct val="150000"/>
              </a:lnSpc>
              <a:spcBef>
                <a:spcPts val="100"/>
              </a:spcBef>
              <a:buSzPct val="94444"/>
              <a:buFont typeface="Arial" panose="020B0604020202020204" pitchFamily="34" charset="0"/>
              <a:buChar char="•"/>
              <a:tabLst>
                <a:tab pos="91440" algn="l"/>
              </a:tabLst>
            </a:pPr>
            <a:r>
              <a:rPr lang="en-US" dirty="0">
                <a:latin typeface="Times New Roman"/>
                <a:cs typeface="Times New Roman"/>
              </a:rPr>
              <a:t>Extract important candidate details such as skills, education, experience, and </a:t>
            </a:r>
            <a:r>
              <a:rPr lang="en-US" dirty="0" err="1">
                <a:latin typeface="Times New Roman"/>
                <a:cs typeface="Times New Roman"/>
              </a:rPr>
              <a:t>certifications.Match</a:t>
            </a:r>
            <a:r>
              <a:rPr lang="en-US" dirty="0">
                <a:latin typeface="Times New Roman"/>
                <a:cs typeface="Times New Roman"/>
              </a:rPr>
              <a:t> resumes with job descriptions using AI and NLP techniques.</a:t>
            </a:r>
          </a:p>
        </p:txBody>
      </p:sp>
    </p:spTree>
    <p:extLst>
      <p:ext uri="{BB962C8B-B14F-4D97-AF65-F5344CB8AC3E}">
        <p14:creationId xmlns:p14="http://schemas.microsoft.com/office/powerpoint/2010/main" val="3207201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DDF3-14A9-E93A-F73F-9CFC515E578D}"/>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3D44239-E4D3-D055-30D5-A885F1A98C1F}"/>
              </a:ext>
            </a:extLst>
          </p:cNvPr>
          <p:cNvPicPr/>
          <p:nvPr/>
        </p:nvPicPr>
        <p:blipFill>
          <a:blip r:embed="rId2"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F646CC02-590B-55C7-2FFD-DB0BCF397FCD}"/>
              </a:ext>
            </a:extLst>
          </p:cNvPr>
          <p:cNvSpPr txBox="1">
            <a:spLocks noGrp="1"/>
          </p:cNvSpPr>
          <p:nvPr>
            <p:ph type="title"/>
          </p:nvPr>
        </p:nvSpPr>
        <p:spPr>
          <a:xfrm>
            <a:off x="2362200" y="637035"/>
            <a:ext cx="8077200" cy="444352"/>
          </a:xfrm>
          <a:prstGeom prst="rect">
            <a:avLst/>
          </a:prstGeom>
        </p:spPr>
        <p:txBody>
          <a:bodyPr vert="horz" wrap="square" lIns="0" tIns="13335" rIns="0" bIns="0" rtlCol="0">
            <a:spAutoFit/>
          </a:bodyPr>
          <a:lstStyle/>
          <a:p>
            <a:pPr marL="12700">
              <a:lnSpc>
                <a:spcPct val="100000"/>
              </a:lnSpc>
              <a:spcBef>
                <a:spcPts val="105"/>
              </a:spcBef>
            </a:pPr>
            <a:r>
              <a:rPr lang="en-IN" sz="2800" dirty="0"/>
              <a:t>Techniques Used:</a:t>
            </a:r>
            <a:endParaRPr sz="2800" dirty="0"/>
          </a:p>
        </p:txBody>
      </p:sp>
      <p:sp>
        <p:nvSpPr>
          <p:cNvPr id="6" name="object 6">
            <a:extLst>
              <a:ext uri="{FF2B5EF4-FFF2-40B4-BE49-F238E27FC236}">
                <a16:creationId xmlns:a16="http://schemas.microsoft.com/office/drawing/2014/main" id="{48C57AD3-CA7D-9133-6A15-418DD6261C07}"/>
              </a:ext>
            </a:extLst>
          </p:cNvPr>
          <p:cNvSpPr txBox="1"/>
          <p:nvPr/>
        </p:nvSpPr>
        <p:spPr>
          <a:xfrm>
            <a:off x="1066800" y="1501877"/>
            <a:ext cx="9601200" cy="2782813"/>
          </a:xfrm>
          <a:prstGeom prst="rect">
            <a:avLst/>
          </a:prstGeom>
        </p:spPr>
        <p:txBody>
          <a:bodyPr vert="horz" wrap="square" lIns="0" tIns="12700" rIns="0" bIns="0" rtlCol="0">
            <a:spAutoFit/>
          </a:bodyPr>
          <a:lstStyle/>
          <a:p>
            <a:pPr marL="285750" lvl="0" indent="-285750">
              <a:buFont typeface="Arial" panose="020B0604020202020204" pitchFamily="34" charset="0"/>
              <a:buChar char="•"/>
            </a:pPr>
            <a:r>
              <a:rPr lang="en-IN" sz="2000" b="1" dirty="0"/>
              <a:t>TF-IDF (Term Frequency–Inverse Document Frequency)</a:t>
            </a:r>
            <a:r>
              <a:rPr lang="en-IN" sz="2000" dirty="0"/>
              <a:t> </a:t>
            </a:r>
          </a:p>
          <a:p>
            <a:pPr marL="800100" lvl="1" indent="-342900">
              <a:buFont typeface="+mj-lt"/>
              <a:buAutoNum type="arabicPeriod"/>
            </a:pPr>
            <a:r>
              <a:rPr lang="en-IN" sz="2000" dirty="0"/>
              <a:t>Converts resume and job-description text into numerical vectors. </a:t>
            </a:r>
          </a:p>
          <a:p>
            <a:pPr marL="800100" lvl="1" indent="-342900">
              <a:buFont typeface="+mj-lt"/>
              <a:buAutoNum type="arabicPeriod"/>
            </a:pPr>
            <a:r>
              <a:rPr lang="en-IN" sz="2000" dirty="0"/>
              <a:t>Gives higher importance to relevant skills and keywords. </a:t>
            </a:r>
          </a:p>
          <a:p>
            <a:pPr marL="285750" lvl="0" indent="-285750">
              <a:buFont typeface="Arial" panose="020B0604020202020204" pitchFamily="34" charset="0"/>
              <a:buChar char="•"/>
            </a:pPr>
            <a:r>
              <a:rPr lang="en-IN" sz="2000" b="1" dirty="0"/>
              <a:t>Cosine Similarity</a:t>
            </a:r>
            <a:r>
              <a:rPr lang="en-IN" sz="2000" dirty="0"/>
              <a:t> </a:t>
            </a:r>
          </a:p>
          <a:p>
            <a:pPr marL="800100" lvl="1" indent="-342900">
              <a:buFont typeface="+mj-lt"/>
              <a:buAutoNum type="arabicPeriod"/>
            </a:pPr>
            <a:r>
              <a:rPr lang="en-IN" sz="2000" dirty="0"/>
              <a:t>Compares the resume vector with the job-description vector. </a:t>
            </a:r>
          </a:p>
          <a:p>
            <a:pPr marL="800100" lvl="1" indent="-342900">
              <a:buFont typeface="+mj-lt"/>
              <a:buAutoNum type="arabicPeriod"/>
            </a:pPr>
            <a:r>
              <a:rPr lang="en-IN" sz="2000" dirty="0"/>
              <a:t>Produces a similarity score indicating how closely the candidate matches the job. </a:t>
            </a:r>
          </a:p>
          <a:p>
            <a:pPr marL="285750" lvl="0" indent="-285750">
              <a:buFont typeface="Arial" panose="020B0604020202020204" pitchFamily="34" charset="0"/>
              <a:buChar char="•"/>
            </a:pPr>
            <a:r>
              <a:rPr lang="en-IN" sz="2000" b="1" dirty="0"/>
              <a:t>Named Entity Recognition (NER)</a:t>
            </a:r>
            <a:r>
              <a:rPr lang="en-IN" sz="2000" dirty="0"/>
              <a:t> </a:t>
            </a:r>
          </a:p>
          <a:p>
            <a:pPr marL="800100" lvl="1" indent="-342900">
              <a:buFont typeface="+mj-lt"/>
              <a:buAutoNum type="arabicPeriod"/>
            </a:pPr>
            <a:r>
              <a:rPr lang="en-IN" sz="2000" dirty="0"/>
              <a:t>Extracts useful information such as candidate names, organizations, education, and other entities from resumes.</a:t>
            </a:r>
          </a:p>
        </p:txBody>
      </p:sp>
      <p:pic>
        <p:nvPicPr>
          <p:cNvPr id="5" name="object 2">
            <a:extLst>
              <a:ext uri="{FF2B5EF4-FFF2-40B4-BE49-F238E27FC236}">
                <a16:creationId xmlns:a16="http://schemas.microsoft.com/office/drawing/2014/main" id="{FF1E15E2-CE0F-EF4C-B6CA-DFC705B93FF7}"/>
              </a:ext>
            </a:extLst>
          </p:cNvPr>
          <p:cNvPicPr/>
          <p:nvPr/>
        </p:nvPicPr>
        <p:blipFill>
          <a:blip r:embed="rId3" cstate="print"/>
          <a:stretch>
            <a:fillRect/>
          </a:stretch>
        </p:blipFill>
        <p:spPr>
          <a:xfrm>
            <a:off x="10671938" y="0"/>
            <a:ext cx="1520062" cy="1342897"/>
          </a:xfrm>
          <a:prstGeom prst="rect">
            <a:avLst/>
          </a:prstGeom>
        </p:spPr>
      </p:pic>
    </p:spTree>
    <p:extLst>
      <p:ext uri="{BB962C8B-B14F-4D97-AF65-F5344CB8AC3E}">
        <p14:creationId xmlns:p14="http://schemas.microsoft.com/office/powerpoint/2010/main" val="2525889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9586F-5A75-B46B-3D69-BC6B645FC36A}"/>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E859A111-AA4A-EA66-6071-8DC79DB82E7B}"/>
              </a:ext>
            </a:extLst>
          </p:cNvPr>
          <p:cNvPicPr/>
          <p:nvPr/>
        </p:nvPicPr>
        <p:blipFill>
          <a:blip r:embed="rId2" cstate="print"/>
          <a:stretch>
            <a:fillRect/>
          </a:stretch>
        </p:blipFill>
        <p:spPr>
          <a:xfrm>
            <a:off x="3962400" y="1524000"/>
            <a:ext cx="3570317" cy="4215765"/>
          </a:xfrm>
          <a:prstGeom prst="rect">
            <a:avLst/>
          </a:prstGeom>
        </p:spPr>
      </p:pic>
      <p:pic>
        <p:nvPicPr>
          <p:cNvPr id="5" name="object 2">
            <a:extLst>
              <a:ext uri="{FF2B5EF4-FFF2-40B4-BE49-F238E27FC236}">
                <a16:creationId xmlns:a16="http://schemas.microsoft.com/office/drawing/2014/main" id="{F2FBBB72-4013-2437-DD06-B2E153D35692}"/>
              </a:ext>
            </a:extLst>
          </p:cNvPr>
          <p:cNvPicPr/>
          <p:nvPr/>
        </p:nvPicPr>
        <p:blipFill>
          <a:blip r:embed="rId3" cstate="print"/>
          <a:stretch>
            <a:fillRect/>
          </a:stretch>
        </p:blipFill>
        <p:spPr>
          <a:xfrm>
            <a:off x="10671938" y="0"/>
            <a:ext cx="1520062" cy="1342897"/>
          </a:xfrm>
          <a:prstGeom prst="rect">
            <a:avLst/>
          </a:prstGeom>
        </p:spPr>
      </p:pic>
      <p:graphicFrame>
        <p:nvGraphicFramePr>
          <p:cNvPr id="2" name="Table 1">
            <a:extLst>
              <a:ext uri="{FF2B5EF4-FFF2-40B4-BE49-F238E27FC236}">
                <a16:creationId xmlns:a16="http://schemas.microsoft.com/office/drawing/2014/main" id="{1752B89A-5D07-DE24-BCE0-564460C6B984}"/>
              </a:ext>
            </a:extLst>
          </p:cNvPr>
          <p:cNvGraphicFramePr>
            <a:graphicFrameLocks noGrp="1"/>
          </p:cNvGraphicFramePr>
          <p:nvPr/>
        </p:nvGraphicFramePr>
        <p:xfrm>
          <a:off x="1960853" y="736640"/>
          <a:ext cx="7573410" cy="5384720"/>
        </p:xfrm>
        <a:graphic>
          <a:graphicData uri="http://schemas.openxmlformats.org/drawingml/2006/table">
            <a:tbl>
              <a:tblPr>
                <a:tableStyleId>{0505E3EF-67EA-436B-97B2-0124C06EBD24}</a:tableStyleId>
              </a:tblPr>
              <a:tblGrid>
                <a:gridCol w="3786705">
                  <a:extLst>
                    <a:ext uri="{9D8B030D-6E8A-4147-A177-3AD203B41FA5}">
                      <a16:colId xmlns:a16="http://schemas.microsoft.com/office/drawing/2014/main" val="2931651632"/>
                    </a:ext>
                  </a:extLst>
                </a:gridCol>
                <a:gridCol w="3786705">
                  <a:extLst>
                    <a:ext uri="{9D8B030D-6E8A-4147-A177-3AD203B41FA5}">
                      <a16:colId xmlns:a16="http://schemas.microsoft.com/office/drawing/2014/main" val="2348734700"/>
                    </a:ext>
                  </a:extLst>
                </a:gridCol>
              </a:tblGrid>
              <a:tr h="288511">
                <a:tc>
                  <a:txBody>
                    <a:bodyPr/>
                    <a:lstStyle/>
                    <a:p>
                      <a:pPr>
                        <a:buNone/>
                      </a:pPr>
                      <a:r>
                        <a:rPr lang="en-IN" sz="1800" dirty="0">
                          <a:solidFill>
                            <a:srgbClr val="FF0000"/>
                          </a:solidFill>
                        </a:rPr>
                        <a:t>Algorithm / Technique</a:t>
                      </a:r>
                    </a:p>
                  </a:txBody>
                  <a:tcPr marL="72128" marR="72128" marT="36064" marB="36064" anchor="ctr"/>
                </a:tc>
                <a:tc>
                  <a:txBody>
                    <a:bodyPr/>
                    <a:lstStyle/>
                    <a:p>
                      <a:pPr>
                        <a:buNone/>
                      </a:pPr>
                      <a:r>
                        <a:rPr lang="en-IN" sz="1800">
                          <a:solidFill>
                            <a:srgbClr val="FF0000"/>
                          </a:solidFill>
                        </a:rPr>
                        <a:t>Where used in your project</a:t>
                      </a:r>
                    </a:p>
                  </a:txBody>
                  <a:tcPr marL="72128" marR="72128" marT="36064" marB="36064" anchor="ctr"/>
                </a:tc>
                <a:extLst>
                  <a:ext uri="{0D108BD9-81ED-4DB2-BD59-A6C34878D82A}">
                    <a16:rowId xmlns:a16="http://schemas.microsoft.com/office/drawing/2014/main" val="3241589615"/>
                  </a:ext>
                </a:extLst>
              </a:tr>
              <a:tr h="288511">
                <a:tc>
                  <a:txBody>
                    <a:bodyPr/>
                    <a:lstStyle/>
                    <a:p>
                      <a:pPr>
                        <a:buNone/>
                      </a:pPr>
                      <a:r>
                        <a:rPr lang="en-IN" sz="1800" b="1" dirty="0">
                          <a:solidFill>
                            <a:srgbClr val="FF0000"/>
                          </a:solidFill>
                        </a:rPr>
                        <a:t>TF-IDF</a:t>
                      </a:r>
                      <a:endParaRPr lang="en-IN" sz="1800" dirty="0">
                        <a:solidFill>
                          <a:srgbClr val="FF0000"/>
                        </a:solidFill>
                      </a:endParaRPr>
                    </a:p>
                  </a:txBody>
                  <a:tcPr marL="72128" marR="72128" marT="36064" marB="36064" anchor="ctr"/>
                </a:tc>
                <a:tc>
                  <a:txBody>
                    <a:bodyPr/>
                    <a:lstStyle/>
                    <a:p>
                      <a:pPr>
                        <a:buNone/>
                      </a:pPr>
                      <a:r>
                        <a:rPr lang="en-IN" sz="1800" dirty="0">
                          <a:solidFill>
                            <a:srgbClr val="FF0000"/>
                          </a:solidFill>
                        </a:rPr>
                        <a:t>Resume parsing and job-description analysis</a:t>
                      </a:r>
                    </a:p>
                  </a:txBody>
                  <a:tcPr marL="72128" marR="72128" marT="36064" marB="36064" anchor="ctr"/>
                </a:tc>
                <a:extLst>
                  <a:ext uri="{0D108BD9-81ED-4DB2-BD59-A6C34878D82A}">
                    <a16:rowId xmlns:a16="http://schemas.microsoft.com/office/drawing/2014/main" val="2095848677"/>
                  </a:ext>
                </a:extLst>
              </a:tr>
              <a:tr h="50489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1" dirty="0">
                          <a:solidFill>
                            <a:srgbClr val="FF0000"/>
                          </a:solidFill>
                        </a:rPr>
                        <a:t>NLP (Natural Language Processing)</a:t>
                      </a:r>
                      <a:endParaRPr lang="en-IN" sz="1800" dirty="0">
                        <a:solidFill>
                          <a:srgbClr val="FF0000"/>
                        </a:solidFill>
                      </a:endParaRPr>
                    </a:p>
                    <a:p>
                      <a:pPr>
                        <a:buNone/>
                      </a:pPr>
                      <a:endParaRPr lang="en-IN" sz="1800" dirty="0">
                        <a:solidFill>
                          <a:srgbClr val="FF0000"/>
                        </a:solidFill>
                      </a:endParaRPr>
                    </a:p>
                  </a:txBody>
                  <a:tcPr marL="72128" marR="72128" marT="36064" marB="36064" anchor="ctr"/>
                </a:tc>
                <a:tc>
                  <a:txBody>
                    <a:bodyPr/>
                    <a:lstStyle/>
                    <a:p>
                      <a:pPr>
                        <a:buNone/>
                      </a:pPr>
                      <a:r>
                        <a:rPr lang="en-IN" sz="1800" dirty="0">
                          <a:solidFill>
                            <a:srgbClr val="FF0000"/>
                          </a:solidFill>
                        </a:rPr>
                        <a:t>Compare important words/skills in resumes and job descriptions</a:t>
                      </a:r>
                    </a:p>
                  </a:txBody>
                  <a:tcPr marL="72128" marR="72128" marT="36064" marB="36064" anchor="ctr"/>
                </a:tc>
                <a:extLst>
                  <a:ext uri="{0D108BD9-81ED-4DB2-BD59-A6C34878D82A}">
                    <a16:rowId xmlns:a16="http://schemas.microsoft.com/office/drawing/2014/main" val="73128477"/>
                  </a:ext>
                </a:extLst>
              </a:tr>
              <a:tr h="288511">
                <a:tc>
                  <a:txBody>
                    <a:bodyPr/>
                    <a:lstStyle/>
                    <a:p>
                      <a:pPr>
                        <a:buNone/>
                      </a:pPr>
                      <a:r>
                        <a:rPr lang="en-IN" sz="1800" b="1">
                          <a:solidFill>
                            <a:srgbClr val="FF0000"/>
                          </a:solidFill>
                        </a:rPr>
                        <a:t>Cosine Similarity</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Calculate resume ↔ job-description similarity</a:t>
                      </a:r>
                    </a:p>
                  </a:txBody>
                  <a:tcPr marL="72128" marR="72128" marT="36064" marB="36064" anchor="ctr"/>
                </a:tc>
                <a:extLst>
                  <a:ext uri="{0D108BD9-81ED-4DB2-BD59-A6C34878D82A}">
                    <a16:rowId xmlns:a16="http://schemas.microsoft.com/office/drawing/2014/main" val="977411135"/>
                  </a:ext>
                </a:extLst>
              </a:tr>
              <a:tr h="288511">
                <a:tc>
                  <a:txBody>
                    <a:bodyPr/>
                    <a:lstStyle/>
                    <a:p>
                      <a:pPr>
                        <a:buNone/>
                      </a:pPr>
                      <a:r>
                        <a:rPr lang="en-IN" sz="1800" b="1">
                          <a:solidFill>
                            <a:srgbClr val="FF0000"/>
                          </a:solidFill>
                        </a:rPr>
                        <a:t>Named Entity Recognition (NER)</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Extract names, organizations, degrees, skills, etc.</a:t>
                      </a:r>
                    </a:p>
                  </a:txBody>
                  <a:tcPr marL="72128" marR="72128" marT="36064" marB="36064" anchor="ctr"/>
                </a:tc>
                <a:extLst>
                  <a:ext uri="{0D108BD9-81ED-4DB2-BD59-A6C34878D82A}">
                    <a16:rowId xmlns:a16="http://schemas.microsoft.com/office/drawing/2014/main" val="1022657982"/>
                  </a:ext>
                </a:extLst>
              </a:tr>
              <a:tr h="288511">
                <a:tc>
                  <a:txBody>
                    <a:bodyPr/>
                    <a:lstStyle/>
                    <a:p>
                      <a:pPr>
                        <a:buNone/>
                      </a:pPr>
                      <a:r>
                        <a:rPr lang="en-IN" sz="1800" b="1">
                          <a:solidFill>
                            <a:srgbClr val="FF0000"/>
                          </a:solidFill>
                        </a:rPr>
                        <a:t>Machine Learning</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Candidate ranking/classification</a:t>
                      </a:r>
                    </a:p>
                  </a:txBody>
                  <a:tcPr marL="72128" marR="72128" marT="36064" marB="36064" anchor="ctr"/>
                </a:tc>
                <a:extLst>
                  <a:ext uri="{0D108BD9-81ED-4DB2-BD59-A6C34878D82A}">
                    <a16:rowId xmlns:a16="http://schemas.microsoft.com/office/drawing/2014/main" val="2493639968"/>
                  </a:ext>
                </a:extLst>
              </a:tr>
              <a:tr h="504894">
                <a:tc>
                  <a:txBody>
                    <a:bodyPr/>
                    <a:lstStyle/>
                    <a:p>
                      <a:pPr>
                        <a:buNone/>
                      </a:pPr>
                      <a:r>
                        <a:rPr lang="en-IN" sz="1800" b="1">
                          <a:solidFill>
                            <a:srgbClr val="FF0000"/>
                          </a:solidFill>
                        </a:rPr>
                        <a:t>Decision Tree</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Determine whether a candidate satisfies requirements</a:t>
                      </a:r>
                    </a:p>
                  </a:txBody>
                  <a:tcPr marL="72128" marR="72128" marT="36064" marB="36064" anchor="ctr"/>
                </a:tc>
                <a:extLst>
                  <a:ext uri="{0D108BD9-81ED-4DB2-BD59-A6C34878D82A}">
                    <a16:rowId xmlns:a16="http://schemas.microsoft.com/office/drawing/2014/main" val="3684248469"/>
                  </a:ext>
                </a:extLst>
              </a:tr>
              <a:tr h="288511">
                <a:tc>
                  <a:txBody>
                    <a:bodyPr/>
                    <a:lstStyle/>
                    <a:p>
                      <a:pPr>
                        <a:buNone/>
                      </a:pPr>
                      <a:r>
                        <a:rPr lang="en-IN" sz="1800" b="1">
                          <a:solidFill>
                            <a:srgbClr val="FF0000"/>
                          </a:solidFill>
                        </a:rPr>
                        <a:t>Random Forest</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Candidate suitability prediction</a:t>
                      </a:r>
                    </a:p>
                  </a:txBody>
                  <a:tcPr marL="72128" marR="72128" marT="36064" marB="36064" anchor="ctr"/>
                </a:tc>
                <a:extLst>
                  <a:ext uri="{0D108BD9-81ED-4DB2-BD59-A6C34878D82A}">
                    <a16:rowId xmlns:a16="http://schemas.microsoft.com/office/drawing/2014/main" val="4085272422"/>
                  </a:ext>
                </a:extLst>
              </a:tr>
              <a:tr h="288511">
                <a:tc>
                  <a:txBody>
                    <a:bodyPr/>
                    <a:lstStyle/>
                    <a:p>
                      <a:pPr>
                        <a:buNone/>
                      </a:pPr>
                      <a:r>
                        <a:rPr lang="en-IN" sz="1800" b="1">
                          <a:solidFill>
                            <a:srgbClr val="FF0000"/>
                          </a:solidFill>
                        </a:rPr>
                        <a:t>K-Means Clustering</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Group candidates based on skills/profile similarity</a:t>
                      </a:r>
                    </a:p>
                  </a:txBody>
                  <a:tcPr marL="72128" marR="72128" marT="36064" marB="36064" anchor="ctr"/>
                </a:tc>
                <a:extLst>
                  <a:ext uri="{0D108BD9-81ED-4DB2-BD59-A6C34878D82A}">
                    <a16:rowId xmlns:a16="http://schemas.microsoft.com/office/drawing/2014/main" val="3826625949"/>
                  </a:ext>
                </a:extLst>
              </a:tr>
              <a:tr h="288511">
                <a:tc>
                  <a:txBody>
                    <a:bodyPr/>
                    <a:lstStyle/>
                    <a:p>
                      <a:pPr>
                        <a:buNone/>
                      </a:pPr>
                      <a:r>
                        <a:rPr lang="en-IN" sz="1800" b="1" dirty="0">
                          <a:solidFill>
                            <a:srgbClr val="FF0000"/>
                          </a:solidFill>
                        </a:rPr>
                        <a:t>Recommendation System</a:t>
                      </a:r>
                      <a:endParaRPr lang="en-IN" sz="1800" dirty="0">
                        <a:solidFill>
                          <a:srgbClr val="FF0000"/>
                        </a:solidFill>
                      </a:endParaRPr>
                    </a:p>
                  </a:txBody>
                  <a:tcPr marL="72128" marR="72128" marT="36064" marB="36064" anchor="ctr"/>
                </a:tc>
                <a:tc>
                  <a:txBody>
                    <a:bodyPr/>
                    <a:lstStyle/>
                    <a:p>
                      <a:pPr>
                        <a:buNone/>
                      </a:pPr>
                      <a:r>
                        <a:rPr lang="en-IN" sz="1800" dirty="0">
                          <a:solidFill>
                            <a:srgbClr val="FF0000"/>
                          </a:solidFill>
                        </a:rPr>
                        <a:t>Skill-gap and learning-resource recommendations</a:t>
                      </a:r>
                    </a:p>
                  </a:txBody>
                  <a:tcPr marL="72128" marR="72128" marT="36064" marB="36064" anchor="ctr"/>
                </a:tc>
                <a:extLst>
                  <a:ext uri="{0D108BD9-81ED-4DB2-BD59-A6C34878D82A}">
                    <a16:rowId xmlns:a16="http://schemas.microsoft.com/office/drawing/2014/main" val="2317062972"/>
                  </a:ext>
                </a:extLst>
              </a:tr>
            </a:tbl>
          </a:graphicData>
        </a:graphic>
      </p:graphicFrame>
    </p:spTree>
    <p:extLst>
      <p:ext uri="{BB962C8B-B14F-4D97-AF65-F5344CB8AC3E}">
        <p14:creationId xmlns:p14="http://schemas.microsoft.com/office/powerpoint/2010/main" val="14768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7B9DB-A4CE-60DF-FDD8-54764874345A}"/>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16CBD4D8-96DF-AE8F-324D-CF8C6D7F3DB6}"/>
              </a:ext>
            </a:extLst>
          </p:cNvPr>
          <p:cNvPicPr/>
          <p:nvPr/>
        </p:nvPicPr>
        <p:blipFill>
          <a:blip r:embed="rId2" cstate="print"/>
          <a:stretch>
            <a:fillRect/>
          </a:stretch>
        </p:blipFill>
        <p:spPr>
          <a:xfrm>
            <a:off x="3962400" y="1524000"/>
            <a:ext cx="3570317" cy="4215765"/>
          </a:xfrm>
          <a:prstGeom prst="rect">
            <a:avLst/>
          </a:prstGeom>
        </p:spPr>
      </p:pic>
      <p:pic>
        <p:nvPicPr>
          <p:cNvPr id="5" name="object 2">
            <a:extLst>
              <a:ext uri="{FF2B5EF4-FFF2-40B4-BE49-F238E27FC236}">
                <a16:creationId xmlns:a16="http://schemas.microsoft.com/office/drawing/2014/main" id="{901C2727-8DFD-008A-62FA-008CC05DDE30}"/>
              </a:ext>
            </a:extLst>
          </p:cNvPr>
          <p:cNvPicPr/>
          <p:nvPr/>
        </p:nvPicPr>
        <p:blipFill>
          <a:blip r:embed="rId3" cstate="print"/>
          <a:stretch>
            <a:fillRect/>
          </a:stretch>
        </p:blipFill>
        <p:spPr>
          <a:xfrm>
            <a:off x="10671938" y="0"/>
            <a:ext cx="1520062" cy="1342897"/>
          </a:xfrm>
          <a:prstGeom prst="rect">
            <a:avLst/>
          </a:prstGeom>
        </p:spPr>
      </p:pic>
      <p:graphicFrame>
        <p:nvGraphicFramePr>
          <p:cNvPr id="2" name="Table 1">
            <a:extLst>
              <a:ext uri="{FF2B5EF4-FFF2-40B4-BE49-F238E27FC236}">
                <a16:creationId xmlns:a16="http://schemas.microsoft.com/office/drawing/2014/main" id="{00234577-D033-8FC4-4059-8FA9E5EFBFB3}"/>
              </a:ext>
            </a:extLst>
          </p:cNvPr>
          <p:cNvGraphicFramePr>
            <a:graphicFrameLocks noGrp="1"/>
          </p:cNvGraphicFramePr>
          <p:nvPr/>
        </p:nvGraphicFramePr>
        <p:xfrm>
          <a:off x="1960853" y="736640"/>
          <a:ext cx="7573410" cy="5384720"/>
        </p:xfrm>
        <a:graphic>
          <a:graphicData uri="http://schemas.openxmlformats.org/drawingml/2006/table">
            <a:tbl>
              <a:tblPr>
                <a:tableStyleId>{0505E3EF-67EA-436B-97B2-0124C06EBD24}</a:tableStyleId>
              </a:tblPr>
              <a:tblGrid>
                <a:gridCol w="3786705">
                  <a:extLst>
                    <a:ext uri="{9D8B030D-6E8A-4147-A177-3AD203B41FA5}">
                      <a16:colId xmlns:a16="http://schemas.microsoft.com/office/drawing/2014/main" val="2931651632"/>
                    </a:ext>
                  </a:extLst>
                </a:gridCol>
                <a:gridCol w="3786705">
                  <a:extLst>
                    <a:ext uri="{9D8B030D-6E8A-4147-A177-3AD203B41FA5}">
                      <a16:colId xmlns:a16="http://schemas.microsoft.com/office/drawing/2014/main" val="2348734700"/>
                    </a:ext>
                  </a:extLst>
                </a:gridCol>
              </a:tblGrid>
              <a:tr h="288511">
                <a:tc>
                  <a:txBody>
                    <a:bodyPr/>
                    <a:lstStyle/>
                    <a:p>
                      <a:pPr>
                        <a:buNone/>
                      </a:pPr>
                      <a:r>
                        <a:rPr lang="en-IN" sz="1800" dirty="0">
                          <a:solidFill>
                            <a:srgbClr val="FF0000"/>
                          </a:solidFill>
                        </a:rPr>
                        <a:t>Algorithm / Technique</a:t>
                      </a:r>
                    </a:p>
                  </a:txBody>
                  <a:tcPr marL="72128" marR="72128" marT="36064" marB="36064" anchor="ctr"/>
                </a:tc>
                <a:tc>
                  <a:txBody>
                    <a:bodyPr/>
                    <a:lstStyle/>
                    <a:p>
                      <a:pPr>
                        <a:buNone/>
                      </a:pPr>
                      <a:r>
                        <a:rPr lang="en-IN" sz="1800">
                          <a:solidFill>
                            <a:srgbClr val="FF0000"/>
                          </a:solidFill>
                        </a:rPr>
                        <a:t>Where used in your project</a:t>
                      </a:r>
                    </a:p>
                  </a:txBody>
                  <a:tcPr marL="72128" marR="72128" marT="36064" marB="36064" anchor="ctr"/>
                </a:tc>
                <a:extLst>
                  <a:ext uri="{0D108BD9-81ED-4DB2-BD59-A6C34878D82A}">
                    <a16:rowId xmlns:a16="http://schemas.microsoft.com/office/drawing/2014/main" val="3241589615"/>
                  </a:ext>
                </a:extLst>
              </a:tr>
              <a:tr h="288511">
                <a:tc>
                  <a:txBody>
                    <a:bodyPr/>
                    <a:lstStyle/>
                    <a:p>
                      <a:pPr>
                        <a:buNone/>
                      </a:pPr>
                      <a:r>
                        <a:rPr lang="en-IN" sz="1800" b="1" dirty="0">
                          <a:solidFill>
                            <a:srgbClr val="FF0000"/>
                          </a:solidFill>
                        </a:rPr>
                        <a:t>TF-IDF</a:t>
                      </a:r>
                      <a:endParaRPr lang="en-IN" sz="1800" dirty="0">
                        <a:solidFill>
                          <a:srgbClr val="FF0000"/>
                        </a:solidFill>
                      </a:endParaRPr>
                    </a:p>
                  </a:txBody>
                  <a:tcPr marL="72128" marR="72128" marT="36064" marB="36064" anchor="ctr"/>
                </a:tc>
                <a:tc>
                  <a:txBody>
                    <a:bodyPr/>
                    <a:lstStyle/>
                    <a:p>
                      <a:pPr>
                        <a:buNone/>
                      </a:pPr>
                      <a:r>
                        <a:rPr lang="en-IN" sz="1800" dirty="0">
                          <a:solidFill>
                            <a:srgbClr val="FF0000"/>
                          </a:solidFill>
                        </a:rPr>
                        <a:t>Resume parsing and job-description analysis</a:t>
                      </a:r>
                    </a:p>
                  </a:txBody>
                  <a:tcPr marL="72128" marR="72128" marT="36064" marB="36064" anchor="ctr"/>
                </a:tc>
                <a:extLst>
                  <a:ext uri="{0D108BD9-81ED-4DB2-BD59-A6C34878D82A}">
                    <a16:rowId xmlns:a16="http://schemas.microsoft.com/office/drawing/2014/main" val="2095848677"/>
                  </a:ext>
                </a:extLst>
              </a:tr>
              <a:tr h="50489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1" dirty="0">
                          <a:solidFill>
                            <a:srgbClr val="FF0000"/>
                          </a:solidFill>
                        </a:rPr>
                        <a:t>NLP (Natural Language Processing)</a:t>
                      </a:r>
                      <a:endParaRPr lang="en-IN" sz="1800" dirty="0">
                        <a:solidFill>
                          <a:srgbClr val="FF0000"/>
                        </a:solidFill>
                      </a:endParaRPr>
                    </a:p>
                    <a:p>
                      <a:pPr>
                        <a:buNone/>
                      </a:pPr>
                      <a:endParaRPr lang="en-IN" sz="1800" dirty="0">
                        <a:solidFill>
                          <a:srgbClr val="FF0000"/>
                        </a:solidFill>
                      </a:endParaRPr>
                    </a:p>
                  </a:txBody>
                  <a:tcPr marL="72128" marR="72128" marT="36064" marB="36064" anchor="ctr"/>
                </a:tc>
                <a:tc>
                  <a:txBody>
                    <a:bodyPr/>
                    <a:lstStyle/>
                    <a:p>
                      <a:pPr>
                        <a:buNone/>
                      </a:pPr>
                      <a:r>
                        <a:rPr lang="en-IN" sz="1800" dirty="0">
                          <a:solidFill>
                            <a:srgbClr val="FF0000"/>
                          </a:solidFill>
                        </a:rPr>
                        <a:t>Compare important words/skills in resumes and job descriptions</a:t>
                      </a:r>
                    </a:p>
                  </a:txBody>
                  <a:tcPr marL="72128" marR="72128" marT="36064" marB="36064" anchor="ctr"/>
                </a:tc>
                <a:extLst>
                  <a:ext uri="{0D108BD9-81ED-4DB2-BD59-A6C34878D82A}">
                    <a16:rowId xmlns:a16="http://schemas.microsoft.com/office/drawing/2014/main" val="73128477"/>
                  </a:ext>
                </a:extLst>
              </a:tr>
              <a:tr h="288511">
                <a:tc>
                  <a:txBody>
                    <a:bodyPr/>
                    <a:lstStyle/>
                    <a:p>
                      <a:pPr>
                        <a:buNone/>
                      </a:pPr>
                      <a:r>
                        <a:rPr lang="en-IN" sz="1800" b="1">
                          <a:solidFill>
                            <a:srgbClr val="FF0000"/>
                          </a:solidFill>
                        </a:rPr>
                        <a:t>Cosine Similarity</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Calculate resume ↔ job-description similarity</a:t>
                      </a:r>
                    </a:p>
                  </a:txBody>
                  <a:tcPr marL="72128" marR="72128" marT="36064" marB="36064" anchor="ctr"/>
                </a:tc>
                <a:extLst>
                  <a:ext uri="{0D108BD9-81ED-4DB2-BD59-A6C34878D82A}">
                    <a16:rowId xmlns:a16="http://schemas.microsoft.com/office/drawing/2014/main" val="977411135"/>
                  </a:ext>
                </a:extLst>
              </a:tr>
              <a:tr h="288511">
                <a:tc>
                  <a:txBody>
                    <a:bodyPr/>
                    <a:lstStyle/>
                    <a:p>
                      <a:pPr>
                        <a:buNone/>
                      </a:pPr>
                      <a:r>
                        <a:rPr lang="en-IN" sz="1800" b="1">
                          <a:solidFill>
                            <a:srgbClr val="FF0000"/>
                          </a:solidFill>
                        </a:rPr>
                        <a:t>Named Entity Recognition (NER)</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Extract names, organizations, degrees, skills, etc.</a:t>
                      </a:r>
                    </a:p>
                  </a:txBody>
                  <a:tcPr marL="72128" marR="72128" marT="36064" marB="36064" anchor="ctr"/>
                </a:tc>
                <a:extLst>
                  <a:ext uri="{0D108BD9-81ED-4DB2-BD59-A6C34878D82A}">
                    <a16:rowId xmlns:a16="http://schemas.microsoft.com/office/drawing/2014/main" val="1022657982"/>
                  </a:ext>
                </a:extLst>
              </a:tr>
              <a:tr h="288511">
                <a:tc>
                  <a:txBody>
                    <a:bodyPr/>
                    <a:lstStyle/>
                    <a:p>
                      <a:pPr>
                        <a:buNone/>
                      </a:pPr>
                      <a:r>
                        <a:rPr lang="en-IN" sz="1800" b="1">
                          <a:solidFill>
                            <a:srgbClr val="FF0000"/>
                          </a:solidFill>
                        </a:rPr>
                        <a:t>Machine Learning</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Candidate ranking/classification</a:t>
                      </a:r>
                    </a:p>
                  </a:txBody>
                  <a:tcPr marL="72128" marR="72128" marT="36064" marB="36064" anchor="ctr"/>
                </a:tc>
                <a:extLst>
                  <a:ext uri="{0D108BD9-81ED-4DB2-BD59-A6C34878D82A}">
                    <a16:rowId xmlns:a16="http://schemas.microsoft.com/office/drawing/2014/main" val="2493639968"/>
                  </a:ext>
                </a:extLst>
              </a:tr>
              <a:tr h="504894">
                <a:tc>
                  <a:txBody>
                    <a:bodyPr/>
                    <a:lstStyle/>
                    <a:p>
                      <a:pPr>
                        <a:buNone/>
                      </a:pPr>
                      <a:r>
                        <a:rPr lang="en-IN" sz="1800" b="1">
                          <a:solidFill>
                            <a:srgbClr val="FF0000"/>
                          </a:solidFill>
                        </a:rPr>
                        <a:t>Decision Tree</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Determine whether a candidate satisfies requirements</a:t>
                      </a:r>
                    </a:p>
                  </a:txBody>
                  <a:tcPr marL="72128" marR="72128" marT="36064" marB="36064" anchor="ctr"/>
                </a:tc>
                <a:extLst>
                  <a:ext uri="{0D108BD9-81ED-4DB2-BD59-A6C34878D82A}">
                    <a16:rowId xmlns:a16="http://schemas.microsoft.com/office/drawing/2014/main" val="3684248469"/>
                  </a:ext>
                </a:extLst>
              </a:tr>
              <a:tr h="288511">
                <a:tc>
                  <a:txBody>
                    <a:bodyPr/>
                    <a:lstStyle/>
                    <a:p>
                      <a:pPr>
                        <a:buNone/>
                      </a:pPr>
                      <a:r>
                        <a:rPr lang="en-IN" sz="1800" b="1">
                          <a:solidFill>
                            <a:srgbClr val="FF0000"/>
                          </a:solidFill>
                        </a:rPr>
                        <a:t>Random Forest</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Candidate suitability prediction</a:t>
                      </a:r>
                    </a:p>
                  </a:txBody>
                  <a:tcPr marL="72128" marR="72128" marT="36064" marB="36064" anchor="ctr"/>
                </a:tc>
                <a:extLst>
                  <a:ext uri="{0D108BD9-81ED-4DB2-BD59-A6C34878D82A}">
                    <a16:rowId xmlns:a16="http://schemas.microsoft.com/office/drawing/2014/main" val="4085272422"/>
                  </a:ext>
                </a:extLst>
              </a:tr>
              <a:tr h="288511">
                <a:tc>
                  <a:txBody>
                    <a:bodyPr/>
                    <a:lstStyle/>
                    <a:p>
                      <a:pPr>
                        <a:buNone/>
                      </a:pPr>
                      <a:r>
                        <a:rPr lang="en-IN" sz="1800" b="1">
                          <a:solidFill>
                            <a:srgbClr val="FF0000"/>
                          </a:solidFill>
                        </a:rPr>
                        <a:t>K-Means Clustering</a:t>
                      </a:r>
                      <a:endParaRPr lang="en-IN" sz="1800">
                        <a:solidFill>
                          <a:srgbClr val="FF0000"/>
                        </a:solidFill>
                      </a:endParaRPr>
                    </a:p>
                  </a:txBody>
                  <a:tcPr marL="72128" marR="72128" marT="36064" marB="36064" anchor="ctr"/>
                </a:tc>
                <a:tc>
                  <a:txBody>
                    <a:bodyPr/>
                    <a:lstStyle/>
                    <a:p>
                      <a:pPr>
                        <a:buNone/>
                      </a:pPr>
                      <a:r>
                        <a:rPr lang="en-IN" sz="1800" dirty="0">
                          <a:solidFill>
                            <a:srgbClr val="FF0000"/>
                          </a:solidFill>
                        </a:rPr>
                        <a:t>Group candidates based on skills/profile similarity</a:t>
                      </a:r>
                    </a:p>
                  </a:txBody>
                  <a:tcPr marL="72128" marR="72128" marT="36064" marB="36064" anchor="ctr"/>
                </a:tc>
                <a:extLst>
                  <a:ext uri="{0D108BD9-81ED-4DB2-BD59-A6C34878D82A}">
                    <a16:rowId xmlns:a16="http://schemas.microsoft.com/office/drawing/2014/main" val="3826625949"/>
                  </a:ext>
                </a:extLst>
              </a:tr>
              <a:tr h="288511">
                <a:tc>
                  <a:txBody>
                    <a:bodyPr/>
                    <a:lstStyle/>
                    <a:p>
                      <a:pPr>
                        <a:buNone/>
                      </a:pPr>
                      <a:r>
                        <a:rPr lang="en-IN" sz="1800" b="1" dirty="0">
                          <a:solidFill>
                            <a:srgbClr val="FF0000"/>
                          </a:solidFill>
                        </a:rPr>
                        <a:t>Recommendation System</a:t>
                      </a:r>
                      <a:endParaRPr lang="en-IN" sz="1800" dirty="0">
                        <a:solidFill>
                          <a:srgbClr val="FF0000"/>
                        </a:solidFill>
                      </a:endParaRPr>
                    </a:p>
                  </a:txBody>
                  <a:tcPr marL="72128" marR="72128" marT="36064" marB="36064" anchor="ctr"/>
                </a:tc>
                <a:tc>
                  <a:txBody>
                    <a:bodyPr/>
                    <a:lstStyle/>
                    <a:p>
                      <a:pPr>
                        <a:buNone/>
                      </a:pPr>
                      <a:r>
                        <a:rPr lang="en-IN" sz="1800" dirty="0">
                          <a:solidFill>
                            <a:srgbClr val="FF0000"/>
                          </a:solidFill>
                        </a:rPr>
                        <a:t>Skill-gap and learning-resource recommendations</a:t>
                      </a:r>
                    </a:p>
                  </a:txBody>
                  <a:tcPr marL="72128" marR="72128" marT="36064" marB="36064" anchor="ctr"/>
                </a:tc>
                <a:extLst>
                  <a:ext uri="{0D108BD9-81ED-4DB2-BD59-A6C34878D82A}">
                    <a16:rowId xmlns:a16="http://schemas.microsoft.com/office/drawing/2014/main" val="2317062972"/>
                  </a:ext>
                </a:extLst>
              </a:tr>
            </a:tbl>
          </a:graphicData>
        </a:graphic>
      </p:graphicFrame>
      <p:pic>
        <p:nvPicPr>
          <p:cNvPr id="6" name="Picture 5">
            <a:extLst>
              <a:ext uri="{FF2B5EF4-FFF2-40B4-BE49-F238E27FC236}">
                <a16:creationId xmlns:a16="http://schemas.microsoft.com/office/drawing/2014/main" id="{32C6E98B-76CE-F8C3-8C36-AC875EAA8B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 y="0"/>
            <a:ext cx="12115800" cy="6858000"/>
          </a:xfrm>
          <a:prstGeom prst="rect">
            <a:avLst/>
          </a:prstGeom>
        </p:spPr>
      </p:pic>
    </p:spTree>
    <p:extLst>
      <p:ext uri="{BB962C8B-B14F-4D97-AF65-F5344CB8AC3E}">
        <p14:creationId xmlns:p14="http://schemas.microsoft.com/office/powerpoint/2010/main" val="3004346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A71D0-3DEE-2BDD-7B95-17B1CF9747F3}"/>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7609CA1B-ED5F-B80E-123B-B2DC4A92616B}"/>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8813EBB0-62C9-7474-5FFB-A88C9AA4D849}"/>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991C4553-387F-C33F-8250-9D1F5945B578}"/>
              </a:ext>
            </a:extLst>
          </p:cNvPr>
          <p:cNvSpPr txBox="1">
            <a:spLocks noGrp="1"/>
          </p:cNvSpPr>
          <p:nvPr>
            <p:ph type="title"/>
          </p:nvPr>
        </p:nvSpPr>
        <p:spPr>
          <a:xfrm>
            <a:off x="3657600" y="794167"/>
            <a:ext cx="5245627" cy="444352"/>
          </a:xfrm>
          <a:prstGeom prst="rect">
            <a:avLst/>
          </a:prstGeom>
        </p:spPr>
        <p:txBody>
          <a:bodyPr vert="horz" wrap="square" lIns="0" tIns="13335" rIns="0" bIns="0" rtlCol="0">
            <a:spAutoFit/>
          </a:bodyPr>
          <a:lstStyle/>
          <a:p>
            <a:pPr marL="12700">
              <a:lnSpc>
                <a:spcPct val="100000"/>
              </a:lnSpc>
              <a:spcBef>
                <a:spcPts val="105"/>
              </a:spcBef>
            </a:pPr>
            <a:r>
              <a:rPr lang="en-US" sz="2800" dirty="0">
                <a:latin typeface="Times New Roman"/>
                <a:cs typeface="Times New Roman"/>
              </a:rPr>
              <a:t>Module 1: Resume Parsing</a:t>
            </a:r>
            <a:endParaRPr sz="2800" dirty="0"/>
          </a:p>
        </p:txBody>
      </p:sp>
      <p:sp>
        <p:nvSpPr>
          <p:cNvPr id="6" name="object 6">
            <a:extLst>
              <a:ext uri="{FF2B5EF4-FFF2-40B4-BE49-F238E27FC236}">
                <a16:creationId xmlns:a16="http://schemas.microsoft.com/office/drawing/2014/main" id="{94764363-38B9-A7DB-0C37-E865A004E609}"/>
              </a:ext>
            </a:extLst>
          </p:cNvPr>
          <p:cNvSpPr txBox="1"/>
          <p:nvPr/>
        </p:nvSpPr>
        <p:spPr>
          <a:xfrm>
            <a:off x="1143000" y="998148"/>
            <a:ext cx="9601200" cy="4515980"/>
          </a:xfrm>
          <a:prstGeom prst="rect">
            <a:avLst/>
          </a:prstGeom>
        </p:spPr>
        <p:txBody>
          <a:bodyPr vert="horz" wrap="square" lIns="0" tIns="12700" rIns="0" bIns="0" rtlCol="0">
            <a:spAutoFit/>
          </a:bodyPr>
          <a:lstStyle/>
          <a:p>
            <a:pPr marL="91440" indent="-88900" algn="just">
              <a:lnSpc>
                <a:spcPct val="150000"/>
              </a:lnSpc>
              <a:spcBef>
                <a:spcPts val="100"/>
              </a:spcBef>
              <a:buSzPct val="94444"/>
              <a:buChar char="•"/>
              <a:tabLst>
                <a:tab pos="91440" algn="l"/>
              </a:tabLst>
            </a:pPr>
            <a:r>
              <a:rPr lang="en-US" sz="1600" dirty="0">
                <a:latin typeface="Times New Roman"/>
                <a:cs typeface="Times New Roman"/>
              </a:rPr>
              <a:t>Description:</a:t>
            </a:r>
          </a:p>
          <a:p>
            <a:pPr marL="2540" algn="just">
              <a:lnSpc>
                <a:spcPct val="150000"/>
              </a:lnSpc>
              <a:spcBef>
                <a:spcPts val="100"/>
              </a:spcBef>
              <a:buSzPct val="94444"/>
              <a:tabLst>
                <a:tab pos="91440" algn="l"/>
              </a:tabLst>
            </a:pPr>
            <a:r>
              <a:rPr lang="en-US" sz="1600" dirty="0">
                <a:latin typeface="Times New Roman"/>
                <a:cs typeface="Times New Roman"/>
              </a:rPr>
              <a:t>Resume Parsing is the process of automatically extracting important information from a candidate's resume using Artificial Intelligence (AI), Natural Language Processing (NLP). It converts resumes in PDF, DOCX, or TXT format into structured data that recruiters and Applicant Tracking Systems (ATS) can easily search and analyze.</a:t>
            </a:r>
          </a:p>
          <a:p>
            <a:pPr marL="2540" algn="just">
              <a:lnSpc>
                <a:spcPct val="150000"/>
              </a:lnSpc>
              <a:spcBef>
                <a:spcPts val="100"/>
              </a:spcBef>
              <a:buSzPct val="94444"/>
              <a:tabLst>
                <a:tab pos="91440" algn="l"/>
              </a:tabLst>
            </a:pPr>
            <a:r>
              <a:rPr lang="en-US" sz="1600" dirty="0">
                <a:latin typeface="Times New Roman"/>
                <a:cs typeface="Times New Roman"/>
              </a:rPr>
              <a:t>Functions :</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Extracts candidate information.</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Identifies skills and qualifications.</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Organizes resume data into a structured format.</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Matches resumes with job descriptions.</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Filters and ranks </a:t>
            </a:r>
            <a:r>
              <a:rPr lang="en-US" sz="1600" dirty="0" err="1">
                <a:latin typeface="Times New Roman"/>
                <a:cs typeface="Times New Roman"/>
              </a:rPr>
              <a:t>candidates,Stores</a:t>
            </a:r>
            <a:r>
              <a:rPr lang="en-US" sz="1600" dirty="0">
                <a:latin typeface="Times New Roman"/>
                <a:cs typeface="Times New Roman"/>
              </a:rPr>
              <a:t> data in an ATS. </a:t>
            </a:r>
          </a:p>
          <a:p>
            <a:pPr marL="2540" algn="just">
              <a:lnSpc>
                <a:spcPct val="150000"/>
              </a:lnSpc>
              <a:spcBef>
                <a:spcPts val="100"/>
              </a:spcBef>
              <a:buSzPct val="94444"/>
              <a:tabLst>
                <a:tab pos="91440" algn="l"/>
              </a:tabLst>
            </a:pPr>
            <a:r>
              <a:rPr lang="en-US" sz="1600" dirty="0">
                <a:latin typeface="Times New Roman"/>
                <a:cs typeface="Times New Roman"/>
              </a:rPr>
              <a:t>Outcome:</a:t>
            </a:r>
          </a:p>
          <a:p>
            <a:pPr marL="2540" algn="just">
              <a:lnSpc>
                <a:spcPct val="150000"/>
              </a:lnSpc>
              <a:spcBef>
                <a:spcPts val="100"/>
              </a:spcBef>
              <a:buSzPct val="94444"/>
              <a:tabLst>
                <a:tab pos="91440" algn="l"/>
              </a:tabLst>
            </a:pPr>
            <a:r>
              <a:rPr lang="en-US" sz="1600" dirty="0">
                <a:latin typeface="Times New Roman"/>
                <a:cs typeface="Times New Roman"/>
              </a:rPr>
              <a:t>This module eliminates manual data entry and prepares structured candidate information for accurate evaluation.</a:t>
            </a:r>
          </a:p>
        </p:txBody>
      </p:sp>
    </p:spTree>
    <p:extLst>
      <p:ext uri="{BB962C8B-B14F-4D97-AF65-F5344CB8AC3E}">
        <p14:creationId xmlns:p14="http://schemas.microsoft.com/office/powerpoint/2010/main" val="1666536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B65C7-D410-C432-7058-027C5CC8833E}"/>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869277B-D392-D89B-39BC-C38F44320706}"/>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CFF5C623-F829-37D2-7223-8505F81B92C4}"/>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D45A0763-4946-21FE-7D00-BBBF7567EB9A}"/>
              </a:ext>
            </a:extLst>
          </p:cNvPr>
          <p:cNvSpPr txBox="1">
            <a:spLocks noGrp="1"/>
          </p:cNvSpPr>
          <p:nvPr>
            <p:ph type="title"/>
          </p:nvPr>
        </p:nvSpPr>
        <p:spPr>
          <a:xfrm>
            <a:off x="3657600" y="794167"/>
            <a:ext cx="5410200" cy="444352"/>
          </a:xfrm>
          <a:prstGeom prst="rect">
            <a:avLst/>
          </a:prstGeom>
        </p:spPr>
        <p:txBody>
          <a:bodyPr vert="horz" wrap="square" lIns="0" tIns="13335" rIns="0" bIns="0" rtlCol="0">
            <a:spAutoFit/>
          </a:bodyPr>
          <a:lstStyle/>
          <a:p>
            <a:pPr marL="12700">
              <a:lnSpc>
                <a:spcPct val="100000"/>
              </a:lnSpc>
              <a:spcBef>
                <a:spcPts val="105"/>
              </a:spcBef>
            </a:pPr>
            <a:r>
              <a:rPr lang="en-US" sz="2800" dirty="0">
                <a:latin typeface="Times New Roman"/>
                <a:cs typeface="Times New Roman"/>
              </a:rPr>
              <a:t>Module 2: Candidate Ranking Model</a:t>
            </a:r>
            <a:endParaRPr sz="2800" dirty="0"/>
          </a:p>
        </p:txBody>
      </p:sp>
      <p:sp>
        <p:nvSpPr>
          <p:cNvPr id="6" name="object 6">
            <a:extLst>
              <a:ext uri="{FF2B5EF4-FFF2-40B4-BE49-F238E27FC236}">
                <a16:creationId xmlns:a16="http://schemas.microsoft.com/office/drawing/2014/main" id="{76B2B63A-835C-44A5-31F2-2B356AECB769}"/>
              </a:ext>
            </a:extLst>
          </p:cNvPr>
          <p:cNvSpPr txBox="1"/>
          <p:nvPr/>
        </p:nvSpPr>
        <p:spPr>
          <a:xfrm>
            <a:off x="1295400" y="1281468"/>
            <a:ext cx="9601200" cy="4885312"/>
          </a:xfrm>
          <a:prstGeom prst="rect">
            <a:avLst/>
          </a:prstGeom>
        </p:spPr>
        <p:txBody>
          <a:bodyPr vert="horz" wrap="square" lIns="0" tIns="12700" rIns="0" bIns="0" rtlCol="0">
            <a:spAutoFit/>
          </a:bodyPr>
          <a:lstStyle/>
          <a:p>
            <a:pPr marL="91440" indent="-88900" algn="just">
              <a:lnSpc>
                <a:spcPct val="150000"/>
              </a:lnSpc>
              <a:spcBef>
                <a:spcPts val="100"/>
              </a:spcBef>
              <a:buSzPct val="94444"/>
              <a:buChar char="•"/>
              <a:tabLst>
                <a:tab pos="91440" algn="l"/>
              </a:tabLst>
            </a:pPr>
            <a:r>
              <a:rPr lang="en-US" sz="1600" dirty="0">
                <a:latin typeface="Times New Roman"/>
                <a:cs typeface="Times New Roman"/>
              </a:rPr>
              <a:t> Description:</a:t>
            </a:r>
          </a:p>
          <a:p>
            <a:pPr marL="2540" algn="just">
              <a:lnSpc>
                <a:spcPct val="150000"/>
              </a:lnSpc>
              <a:spcBef>
                <a:spcPts val="100"/>
              </a:spcBef>
              <a:buSzPct val="94444"/>
              <a:tabLst>
                <a:tab pos="91440" algn="l"/>
              </a:tabLst>
            </a:pPr>
            <a:r>
              <a:rPr lang="en-US" sz="1600" dirty="0">
                <a:latin typeface="Times New Roman"/>
                <a:cs typeface="Times New Roman"/>
              </a:rPr>
              <a:t>The Candidate Ranking Model compares the extracted resume information with the job description and calculates a suitability score for each applicant. AI and machine learning algorithms evaluate how well a candidate matches the job requirements.</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Functions:</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Analyze job descriptions and required skills.</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Compare candidate skills, education, and experience with job requirements.</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Calculate a matching score based on predefined criteria.</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Rank candidates from highest to lowest suitability.</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Filter candidates based on minimum qualifications or specific requirements.</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Outcome:</a:t>
            </a:r>
          </a:p>
          <a:p>
            <a:pPr marL="2540" algn="just">
              <a:lnSpc>
                <a:spcPct val="150000"/>
              </a:lnSpc>
              <a:spcBef>
                <a:spcPts val="100"/>
              </a:spcBef>
              <a:buSzPct val="94444"/>
              <a:tabLst>
                <a:tab pos="91440" algn="l"/>
              </a:tabLst>
            </a:pPr>
            <a:r>
              <a:rPr lang="en-US" sz="1600" dirty="0">
                <a:latin typeface="Times New Roman"/>
                <a:cs typeface="Times New Roman"/>
              </a:rPr>
              <a:t>	Recruiters receive a prioritized list of applicants, allowing them to focus on the most suitable candidates and reducing the time required for screening.</a:t>
            </a:r>
          </a:p>
        </p:txBody>
      </p:sp>
    </p:spTree>
    <p:extLst>
      <p:ext uri="{BB962C8B-B14F-4D97-AF65-F5344CB8AC3E}">
        <p14:creationId xmlns:p14="http://schemas.microsoft.com/office/powerpoint/2010/main" val="2332920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16A3-AA06-6BAD-CF16-2F21C04F494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C1A09083-AAD6-6FB6-CB0A-F5B9A9F45784}"/>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50BC5987-E456-948C-E730-1898FDE287D6}"/>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E5158DE0-76F6-7616-D8A9-C956698E97D7}"/>
              </a:ext>
            </a:extLst>
          </p:cNvPr>
          <p:cNvSpPr txBox="1">
            <a:spLocks noGrp="1"/>
          </p:cNvSpPr>
          <p:nvPr>
            <p:ph type="title"/>
          </p:nvPr>
        </p:nvSpPr>
        <p:spPr>
          <a:xfrm>
            <a:off x="3657600" y="794167"/>
            <a:ext cx="5410200" cy="444352"/>
          </a:xfrm>
          <a:prstGeom prst="rect">
            <a:avLst/>
          </a:prstGeom>
        </p:spPr>
        <p:txBody>
          <a:bodyPr vert="horz" wrap="square" lIns="0" tIns="13335" rIns="0" bIns="0" rtlCol="0">
            <a:spAutoFit/>
          </a:bodyPr>
          <a:lstStyle/>
          <a:p>
            <a:pPr marL="12700">
              <a:lnSpc>
                <a:spcPct val="100000"/>
              </a:lnSpc>
              <a:spcBef>
                <a:spcPts val="105"/>
              </a:spcBef>
            </a:pPr>
            <a:r>
              <a:rPr lang="en-US" sz="2800" dirty="0">
                <a:latin typeface="Times New Roman"/>
                <a:cs typeface="Times New Roman"/>
              </a:rPr>
              <a:t>Module 3: Recruiter Dashboard</a:t>
            </a:r>
            <a:endParaRPr sz="2800" dirty="0"/>
          </a:p>
        </p:txBody>
      </p:sp>
      <p:sp>
        <p:nvSpPr>
          <p:cNvPr id="6" name="object 6">
            <a:extLst>
              <a:ext uri="{FF2B5EF4-FFF2-40B4-BE49-F238E27FC236}">
                <a16:creationId xmlns:a16="http://schemas.microsoft.com/office/drawing/2014/main" id="{7EBB5575-21B9-DF95-825C-1AE0EE8F3E51}"/>
              </a:ext>
            </a:extLst>
          </p:cNvPr>
          <p:cNvSpPr txBox="1"/>
          <p:nvPr/>
        </p:nvSpPr>
        <p:spPr>
          <a:xfrm>
            <a:off x="1295400" y="1281468"/>
            <a:ext cx="9601200" cy="4515980"/>
          </a:xfrm>
          <a:prstGeom prst="rect">
            <a:avLst/>
          </a:prstGeom>
        </p:spPr>
        <p:txBody>
          <a:bodyPr vert="horz" wrap="square" lIns="0" tIns="12700" rIns="0" bIns="0" rtlCol="0">
            <a:spAutoFit/>
          </a:bodyPr>
          <a:lstStyle/>
          <a:p>
            <a:pPr marL="91440" indent="-88900" algn="just">
              <a:lnSpc>
                <a:spcPct val="150000"/>
              </a:lnSpc>
              <a:spcBef>
                <a:spcPts val="100"/>
              </a:spcBef>
              <a:buSzPct val="94444"/>
              <a:buChar char="•"/>
              <a:tabLst>
                <a:tab pos="91440" algn="l"/>
              </a:tabLst>
            </a:pPr>
            <a:r>
              <a:rPr lang="en-US" sz="1600" dirty="0">
                <a:latin typeface="Times New Roman"/>
                <a:cs typeface="Times New Roman"/>
              </a:rPr>
              <a:t> Description:</a:t>
            </a:r>
          </a:p>
          <a:p>
            <a:pPr marL="2540" algn="just">
              <a:lnSpc>
                <a:spcPct val="150000"/>
              </a:lnSpc>
              <a:spcBef>
                <a:spcPts val="100"/>
              </a:spcBef>
              <a:buSzPct val="94444"/>
              <a:tabLst>
                <a:tab pos="91440" algn="l"/>
              </a:tabLst>
            </a:pPr>
            <a:r>
              <a:rPr lang="en-US" sz="1600" dirty="0">
                <a:latin typeface="Times New Roman"/>
                <a:cs typeface="Times New Roman"/>
              </a:rPr>
              <a:t>The Recruiter Dashboard provides an easy-to-use interface for recruiters to manage job postings, review ranked candidates, and monitor the recruitment process.</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Functions:</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Display ranked candidate lists with matching scores.</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View detailed candidate profiles and extracted resume information.</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Search and filter candidates by skills, experience, education, or score.</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Track application status (e.g., shortlisted, interviewed, selected, rejected).</a:t>
            </a:r>
          </a:p>
          <a:p>
            <a:pPr marL="345440" indent="-342900" algn="just">
              <a:lnSpc>
                <a:spcPct val="150000"/>
              </a:lnSpc>
              <a:spcBef>
                <a:spcPts val="100"/>
              </a:spcBef>
              <a:buSzPct val="94444"/>
              <a:buFont typeface="+mj-lt"/>
              <a:buAutoNum type="arabicPeriod"/>
              <a:tabLst>
                <a:tab pos="91440" algn="l"/>
              </a:tabLst>
            </a:pPr>
            <a:r>
              <a:rPr lang="en-US" sz="1600" dirty="0">
                <a:latin typeface="Times New Roman"/>
                <a:cs typeface="Times New Roman"/>
              </a:rPr>
              <a:t>Generate reports and analytics on recruitment activities.</a:t>
            </a:r>
          </a:p>
          <a:p>
            <a:pPr marL="288290" indent="-285750" algn="just">
              <a:lnSpc>
                <a:spcPct val="150000"/>
              </a:lnSpc>
              <a:spcBef>
                <a:spcPts val="100"/>
              </a:spcBef>
              <a:buSzPct val="94444"/>
              <a:buFont typeface="Arial" panose="020B0604020202020204" pitchFamily="34" charset="0"/>
              <a:buChar char="•"/>
              <a:tabLst>
                <a:tab pos="91440" algn="l"/>
              </a:tabLst>
            </a:pPr>
            <a:r>
              <a:rPr lang="en-US" sz="1600" dirty="0">
                <a:latin typeface="Times New Roman"/>
                <a:cs typeface="Times New Roman"/>
              </a:rPr>
              <a:t>Outcome:</a:t>
            </a:r>
          </a:p>
          <a:p>
            <a:pPr marL="2540" algn="just">
              <a:lnSpc>
                <a:spcPct val="150000"/>
              </a:lnSpc>
              <a:spcBef>
                <a:spcPts val="100"/>
              </a:spcBef>
              <a:buSzPct val="94444"/>
              <a:tabLst>
                <a:tab pos="91440" algn="l"/>
              </a:tabLst>
            </a:pPr>
            <a:r>
              <a:rPr lang="en-US" sz="1600" dirty="0">
                <a:latin typeface="Times New Roman"/>
                <a:cs typeface="Times New Roman"/>
              </a:rPr>
              <a:t>This module simplifies recruitment management by providing recruiters with a centralized dashboard for efficient decision-making and candidate tracking.</a:t>
            </a:r>
          </a:p>
        </p:txBody>
      </p:sp>
    </p:spTree>
    <p:extLst>
      <p:ext uri="{BB962C8B-B14F-4D97-AF65-F5344CB8AC3E}">
        <p14:creationId xmlns:p14="http://schemas.microsoft.com/office/powerpoint/2010/main" val="2903896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AAA3-1082-FEDF-289F-CC1BCD7FD152}"/>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D1DE4B6-8DE2-A934-1CF2-1D7DEE7F050D}"/>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FBD3B170-BF85-A1CE-EA12-EAE91AA2BA0A}"/>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9A9F4EE6-A94A-48C9-353E-9BC659DA8394}"/>
              </a:ext>
            </a:extLst>
          </p:cNvPr>
          <p:cNvSpPr txBox="1">
            <a:spLocks noGrp="1"/>
          </p:cNvSpPr>
          <p:nvPr>
            <p:ph type="title"/>
          </p:nvPr>
        </p:nvSpPr>
        <p:spPr>
          <a:xfrm>
            <a:off x="2743200" y="794167"/>
            <a:ext cx="6324600" cy="444352"/>
          </a:xfrm>
          <a:prstGeom prst="rect">
            <a:avLst/>
          </a:prstGeom>
        </p:spPr>
        <p:txBody>
          <a:bodyPr vert="horz" wrap="square" lIns="0" tIns="13335" rIns="0" bIns="0" rtlCol="0">
            <a:spAutoFit/>
          </a:bodyPr>
          <a:lstStyle/>
          <a:p>
            <a:pPr marL="12700">
              <a:lnSpc>
                <a:spcPct val="100000"/>
              </a:lnSpc>
              <a:spcBef>
                <a:spcPts val="105"/>
              </a:spcBef>
            </a:pPr>
            <a:r>
              <a:rPr lang="en-US" sz="2800" dirty="0">
                <a:latin typeface="Times New Roman"/>
                <a:cs typeface="Times New Roman"/>
              </a:rPr>
              <a:t>Module 4: Candidate Skill Gap Analysis</a:t>
            </a:r>
            <a:endParaRPr sz="2800" dirty="0"/>
          </a:p>
        </p:txBody>
      </p:sp>
      <p:sp>
        <p:nvSpPr>
          <p:cNvPr id="6" name="object 6">
            <a:extLst>
              <a:ext uri="{FF2B5EF4-FFF2-40B4-BE49-F238E27FC236}">
                <a16:creationId xmlns:a16="http://schemas.microsoft.com/office/drawing/2014/main" id="{3F54F4A9-E80E-204C-7BAD-413F518DFD53}"/>
              </a:ext>
            </a:extLst>
          </p:cNvPr>
          <p:cNvSpPr txBox="1"/>
          <p:nvPr/>
        </p:nvSpPr>
        <p:spPr>
          <a:xfrm>
            <a:off x="1295400" y="1118235"/>
            <a:ext cx="9601200" cy="4233467"/>
          </a:xfrm>
          <a:prstGeom prst="rect">
            <a:avLst/>
          </a:prstGeom>
        </p:spPr>
        <p:txBody>
          <a:bodyPr vert="horz" wrap="square" lIns="0" tIns="12700" rIns="0" bIns="0" rtlCol="0">
            <a:spAutoFit/>
          </a:bodyPr>
          <a:lstStyle/>
          <a:p>
            <a:pPr marL="91440" indent="-88900" algn="just">
              <a:lnSpc>
                <a:spcPct val="150000"/>
              </a:lnSpc>
              <a:spcBef>
                <a:spcPts val="100"/>
              </a:spcBef>
              <a:buSzPct val="94444"/>
              <a:buChar char="•"/>
              <a:tabLst>
                <a:tab pos="91440" algn="l"/>
              </a:tabLst>
            </a:pPr>
            <a:r>
              <a:rPr lang="en-US" dirty="0">
                <a:latin typeface="Times New Roman"/>
                <a:cs typeface="Times New Roman"/>
              </a:rPr>
              <a:t> Description:</a:t>
            </a:r>
          </a:p>
          <a:p>
            <a:pPr marL="2540" algn="just">
              <a:lnSpc>
                <a:spcPct val="150000"/>
              </a:lnSpc>
              <a:spcBef>
                <a:spcPts val="100"/>
              </a:spcBef>
              <a:buSzPct val="94444"/>
              <a:tabLst>
                <a:tab pos="91440" algn="l"/>
              </a:tabLst>
            </a:pPr>
            <a:r>
              <a:rPr lang="en-US" dirty="0">
                <a:latin typeface="Times New Roman"/>
                <a:cs typeface="Times New Roman"/>
              </a:rPr>
              <a:t>This module identifies missing skills by comparing candidate profiles with job requirements.</a:t>
            </a:r>
          </a:p>
          <a:p>
            <a:pPr marL="2540" algn="just">
              <a:lnSpc>
                <a:spcPct val="150000"/>
              </a:lnSpc>
              <a:spcBef>
                <a:spcPts val="100"/>
              </a:spcBef>
              <a:buSzPct val="94444"/>
              <a:tabLst>
                <a:tab pos="91440" algn="l"/>
              </a:tabLst>
            </a:pPr>
            <a:r>
              <a:rPr lang="en-US" dirty="0">
                <a:latin typeface="Times New Roman"/>
                <a:cs typeface="Times New Roman"/>
              </a:rPr>
              <a:t>Functions:</a:t>
            </a:r>
          </a:p>
          <a:p>
            <a:pPr marL="345440" indent="-342900" algn="just">
              <a:lnSpc>
                <a:spcPct val="150000"/>
              </a:lnSpc>
              <a:spcBef>
                <a:spcPts val="100"/>
              </a:spcBef>
              <a:buSzPct val="94444"/>
              <a:buFont typeface="+mj-lt"/>
              <a:buAutoNum type="arabicPeriod"/>
              <a:tabLst>
                <a:tab pos="91440" algn="l"/>
              </a:tabLst>
            </a:pPr>
            <a:r>
              <a:rPr lang="en-US" dirty="0">
                <a:latin typeface="Times New Roman"/>
                <a:cs typeface="Times New Roman"/>
              </a:rPr>
              <a:t>Detect missing technical skills.</a:t>
            </a:r>
          </a:p>
          <a:p>
            <a:pPr marL="345440" indent="-342900" algn="just">
              <a:lnSpc>
                <a:spcPct val="150000"/>
              </a:lnSpc>
              <a:spcBef>
                <a:spcPts val="100"/>
              </a:spcBef>
              <a:buSzPct val="94444"/>
              <a:buFont typeface="+mj-lt"/>
              <a:buAutoNum type="arabicPeriod"/>
              <a:tabLst>
                <a:tab pos="91440" algn="l"/>
              </a:tabLst>
            </a:pPr>
            <a:r>
              <a:rPr lang="en-US" dirty="0">
                <a:latin typeface="Times New Roman"/>
                <a:cs typeface="Times New Roman"/>
              </a:rPr>
              <a:t>Suggest recommended certifications.</a:t>
            </a:r>
          </a:p>
          <a:p>
            <a:pPr marL="345440" indent="-342900" algn="just">
              <a:lnSpc>
                <a:spcPct val="150000"/>
              </a:lnSpc>
              <a:spcBef>
                <a:spcPts val="100"/>
              </a:spcBef>
              <a:buSzPct val="94444"/>
              <a:buFont typeface="+mj-lt"/>
              <a:buAutoNum type="arabicPeriod"/>
              <a:tabLst>
                <a:tab pos="91440" algn="l"/>
              </a:tabLst>
            </a:pPr>
            <a:r>
              <a:rPr lang="en-US" dirty="0">
                <a:latin typeface="Times New Roman"/>
                <a:cs typeface="Times New Roman"/>
              </a:rPr>
              <a:t>Recommend learning resources.</a:t>
            </a:r>
          </a:p>
          <a:p>
            <a:pPr marL="345440" indent="-342900" algn="just">
              <a:lnSpc>
                <a:spcPct val="150000"/>
              </a:lnSpc>
              <a:spcBef>
                <a:spcPts val="100"/>
              </a:spcBef>
              <a:buSzPct val="94444"/>
              <a:buFont typeface="+mj-lt"/>
              <a:buAutoNum type="arabicPeriod"/>
              <a:tabLst>
                <a:tab pos="91440" algn="l"/>
              </a:tabLst>
            </a:pPr>
            <a:r>
              <a:rPr lang="en-US" dirty="0">
                <a:latin typeface="Times New Roman"/>
                <a:cs typeface="Times New Roman"/>
              </a:rPr>
              <a:t>Display skill gap reports.</a:t>
            </a:r>
          </a:p>
          <a:p>
            <a:pPr marL="345440" indent="-342900" algn="just">
              <a:lnSpc>
                <a:spcPct val="150000"/>
              </a:lnSpc>
              <a:spcBef>
                <a:spcPts val="100"/>
              </a:spcBef>
              <a:buSzPct val="94444"/>
              <a:buFont typeface="+mj-lt"/>
              <a:buAutoNum type="arabicPeriod"/>
              <a:tabLst>
                <a:tab pos="91440" algn="l"/>
              </a:tabLst>
            </a:pPr>
            <a:r>
              <a:rPr lang="en-US" dirty="0">
                <a:latin typeface="Times New Roman"/>
                <a:cs typeface="Times New Roman"/>
              </a:rPr>
              <a:t>Generate candidate improvement recommendations.</a:t>
            </a:r>
          </a:p>
          <a:p>
            <a:pPr marL="2540" algn="just">
              <a:lnSpc>
                <a:spcPct val="150000"/>
              </a:lnSpc>
              <a:spcBef>
                <a:spcPts val="100"/>
              </a:spcBef>
              <a:buSzPct val="94444"/>
              <a:tabLst>
                <a:tab pos="91440" algn="l"/>
              </a:tabLst>
            </a:pPr>
            <a:r>
              <a:rPr lang="en-US" dirty="0">
                <a:latin typeface="Times New Roman"/>
                <a:cs typeface="Times New Roman"/>
              </a:rPr>
              <a:t>Outcome:</a:t>
            </a:r>
          </a:p>
          <a:p>
            <a:pPr marL="2540" algn="just">
              <a:lnSpc>
                <a:spcPct val="150000"/>
              </a:lnSpc>
              <a:spcBef>
                <a:spcPts val="100"/>
              </a:spcBef>
              <a:buSzPct val="94444"/>
              <a:tabLst>
                <a:tab pos="91440" algn="l"/>
              </a:tabLst>
            </a:pPr>
            <a:r>
              <a:rPr lang="en-US" dirty="0">
                <a:latin typeface="Times New Roman"/>
                <a:cs typeface="Times New Roman"/>
              </a:rPr>
              <a:t>Helps candidates understand areas for improvement and assists recruiters in evaluating training needs.</a:t>
            </a:r>
          </a:p>
        </p:txBody>
      </p:sp>
    </p:spTree>
    <p:extLst>
      <p:ext uri="{BB962C8B-B14F-4D97-AF65-F5344CB8AC3E}">
        <p14:creationId xmlns:p14="http://schemas.microsoft.com/office/powerpoint/2010/main" val="2457995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C10D-2F1E-A800-153F-CAD18D8A124A}"/>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46F6EDCA-3034-A6C2-5A7A-9CA7714C2E26}"/>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BDC74475-F14F-7D80-AAEC-81299A7CEC21}"/>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9106AC19-B951-AFD8-7BBF-584E5F811699}"/>
              </a:ext>
            </a:extLst>
          </p:cNvPr>
          <p:cNvSpPr txBox="1">
            <a:spLocks noGrp="1"/>
          </p:cNvSpPr>
          <p:nvPr>
            <p:ph type="title"/>
          </p:nvPr>
        </p:nvSpPr>
        <p:spPr>
          <a:xfrm>
            <a:off x="2585258" y="621916"/>
            <a:ext cx="6324600" cy="444352"/>
          </a:xfrm>
          <a:prstGeom prst="rect">
            <a:avLst/>
          </a:prstGeom>
        </p:spPr>
        <p:txBody>
          <a:bodyPr vert="horz" wrap="square" lIns="0" tIns="13335" rIns="0" bIns="0" rtlCol="0">
            <a:spAutoFit/>
          </a:bodyPr>
          <a:lstStyle/>
          <a:p>
            <a:pPr marL="12700">
              <a:lnSpc>
                <a:spcPct val="100000"/>
              </a:lnSpc>
              <a:spcBef>
                <a:spcPts val="105"/>
              </a:spcBef>
            </a:pPr>
            <a:r>
              <a:rPr lang="en-IN" sz="2800" dirty="0"/>
              <a:t>Data Set Explanation</a:t>
            </a:r>
            <a:endParaRPr sz="2800" dirty="0"/>
          </a:p>
        </p:txBody>
      </p:sp>
      <p:graphicFrame>
        <p:nvGraphicFramePr>
          <p:cNvPr id="7" name="Table 6">
            <a:extLst>
              <a:ext uri="{FF2B5EF4-FFF2-40B4-BE49-F238E27FC236}">
                <a16:creationId xmlns:a16="http://schemas.microsoft.com/office/drawing/2014/main" id="{755411A6-F5A8-E22F-1388-405192408DE6}"/>
              </a:ext>
            </a:extLst>
          </p:cNvPr>
          <p:cNvGraphicFramePr>
            <a:graphicFrameLocks noGrp="1"/>
          </p:cNvGraphicFramePr>
          <p:nvPr>
            <p:extLst>
              <p:ext uri="{D42A27DB-BD31-4B8C-83A1-F6EECF244321}">
                <p14:modId xmlns:p14="http://schemas.microsoft.com/office/powerpoint/2010/main" val="2315431100"/>
              </p:ext>
            </p:extLst>
          </p:nvPr>
        </p:nvGraphicFramePr>
        <p:xfrm>
          <a:off x="1350819" y="1118235"/>
          <a:ext cx="4343400" cy="5037665"/>
        </p:xfrm>
        <a:graphic>
          <a:graphicData uri="http://schemas.openxmlformats.org/drawingml/2006/table">
            <a:tbl>
              <a:tblPr>
                <a:tableStyleId>{0505E3EF-67EA-436B-97B2-0124C06EBD24}</a:tableStyleId>
              </a:tblPr>
              <a:tblGrid>
                <a:gridCol w="1447800">
                  <a:extLst>
                    <a:ext uri="{9D8B030D-6E8A-4147-A177-3AD203B41FA5}">
                      <a16:colId xmlns:a16="http://schemas.microsoft.com/office/drawing/2014/main" val="972896052"/>
                    </a:ext>
                  </a:extLst>
                </a:gridCol>
                <a:gridCol w="1447800">
                  <a:extLst>
                    <a:ext uri="{9D8B030D-6E8A-4147-A177-3AD203B41FA5}">
                      <a16:colId xmlns:a16="http://schemas.microsoft.com/office/drawing/2014/main" val="1503665053"/>
                    </a:ext>
                  </a:extLst>
                </a:gridCol>
                <a:gridCol w="1447800">
                  <a:extLst>
                    <a:ext uri="{9D8B030D-6E8A-4147-A177-3AD203B41FA5}">
                      <a16:colId xmlns:a16="http://schemas.microsoft.com/office/drawing/2014/main" val="3773265380"/>
                    </a:ext>
                  </a:extLst>
                </a:gridCol>
              </a:tblGrid>
              <a:tr h="315595">
                <a:tc>
                  <a:txBody>
                    <a:bodyPr/>
                    <a:lstStyle/>
                    <a:p>
                      <a:pPr>
                        <a:buNone/>
                      </a:pPr>
                      <a:r>
                        <a:rPr lang="en-IN" sz="1200" b="1"/>
                        <a:t>Column Name</a:t>
                      </a:r>
                      <a:endParaRPr lang="en-IN" sz="1200"/>
                    </a:p>
                  </a:txBody>
                  <a:tcPr marL="26757" marR="26757" marT="13379" marB="13379" anchor="ctr"/>
                </a:tc>
                <a:tc>
                  <a:txBody>
                    <a:bodyPr/>
                    <a:lstStyle/>
                    <a:p>
                      <a:pPr>
                        <a:buNone/>
                      </a:pPr>
                      <a:r>
                        <a:rPr lang="en-IN" sz="1200" b="1"/>
                        <a:t>Description</a:t>
                      </a:r>
                      <a:endParaRPr lang="en-IN" sz="1200"/>
                    </a:p>
                  </a:txBody>
                  <a:tcPr marL="26757" marR="26757" marT="13379" marB="13379" anchor="ctr"/>
                </a:tc>
                <a:tc>
                  <a:txBody>
                    <a:bodyPr/>
                    <a:lstStyle/>
                    <a:p>
                      <a:pPr>
                        <a:buNone/>
                      </a:pPr>
                      <a:r>
                        <a:rPr lang="en-IN" sz="1200" b="1"/>
                        <a:t>Example</a:t>
                      </a:r>
                      <a:endParaRPr lang="en-IN" sz="1200"/>
                    </a:p>
                  </a:txBody>
                  <a:tcPr marL="26757" marR="26757" marT="13379" marB="13379" anchor="ctr"/>
                </a:tc>
                <a:extLst>
                  <a:ext uri="{0D108BD9-81ED-4DB2-BD59-A6C34878D82A}">
                    <a16:rowId xmlns:a16="http://schemas.microsoft.com/office/drawing/2014/main" val="1121550138"/>
                  </a:ext>
                </a:extLst>
              </a:tr>
              <a:tr h="552291">
                <a:tc>
                  <a:txBody>
                    <a:bodyPr/>
                    <a:lstStyle/>
                    <a:p>
                      <a:pPr>
                        <a:buNone/>
                      </a:pPr>
                      <a:r>
                        <a:rPr lang="en-IN" sz="1200"/>
                        <a:t>Candidate_ID</a:t>
                      </a:r>
                    </a:p>
                  </a:txBody>
                  <a:tcPr marL="26757" marR="26757" marT="13379" marB="13379" anchor="ctr"/>
                </a:tc>
                <a:tc>
                  <a:txBody>
                    <a:bodyPr/>
                    <a:lstStyle/>
                    <a:p>
                      <a:pPr>
                        <a:buNone/>
                      </a:pPr>
                      <a:r>
                        <a:rPr lang="en-IN" sz="1200"/>
                        <a:t>Unique identifier for each candidate</a:t>
                      </a:r>
                    </a:p>
                  </a:txBody>
                  <a:tcPr marL="26757" marR="26757" marT="13379" marB="13379" anchor="ctr"/>
                </a:tc>
                <a:tc>
                  <a:txBody>
                    <a:bodyPr/>
                    <a:lstStyle/>
                    <a:p>
                      <a:pPr>
                        <a:buNone/>
                      </a:pPr>
                      <a:r>
                        <a:rPr lang="en-IN" sz="1200"/>
                        <a:t>C001</a:t>
                      </a:r>
                    </a:p>
                  </a:txBody>
                  <a:tcPr marL="26757" marR="26757" marT="13379" marB="13379" anchor="ctr"/>
                </a:tc>
                <a:extLst>
                  <a:ext uri="{0D108BD9-81ED-4DB2-BD59-A6C34878D82A}">
                    <a16:rowId xmlns:a16="http://schemas.microsoft.com/office/drawing/2014/main" val="2730808165"/>
                  </a:ext>
                </a:extLst>
              </a:tr>
              <a:tr h="315595">
                <a:tc>
                  <a:txBody>
                    <a:bodyPr/>
                    <a:lstStyle/>
                    <a:p>
                      <a:pPr>
                        <a:buNone/>
                      </a:pPr>
                      <a:r>
                        <a:rPr lang="en-IN" sz="1200"/>
                        <a:t>Candidate_Name</a:t>
                      </a:r>
                    </a:p>
                  </a:txBody>
                  <a:tcPr marL="26757" marR="26757" marT="13379" marB="13379" anchor="ctr"/>
                </a:tc>
                <a:tc>
                  <a:txBody>
                    <a:bodyPr/>
                    <a:lstStyle/>
                    <a:p>
                      <a:pPr>
                        <a:buNone/>
                      </a:pPr>
                      <a:r>
                        <a:rPr lang="en-IN" sz="1200"/>
                        <a:t>Full name of the candidate</a:t>
                      </a:r>
                    </a:p>
                  </a:txBody>
                  <a:tcPr marL="26757" marR="26757" marT="13379" marB="13379" anchor="ctr"/>
                </a:tc>
                <a:tc>
                  <a:txBody>
                    <a:bodyPr/>
                    <a:lstStyle/>
                    <a:p>
                      <a:pPr>
                        <a:buNone/>
                      </a:pPr>
                      <a:r>
                        <a:rPr lang="en-IN" sz="1200"/>
                        <a:t>John Smith</a:t>
                      </a:r>
                    </a:p>
                  </a:txBody>
                  <a:tcPr marL="26757" marR="26757" marT="13379" marB="13379" anchor="ctr"/>
                </a:tc>
                <a:extLst>
                  <a:ext uri="{0D108BD9-81ED-4DB2-BD59-A6C34878D82A}">
                    <a16:rowId xmlns:a16="http://schemas.microsoft.com/office/drawing/2014/main" val="618537811"/>
                  </a:ext>
                </a:extLst>
              </a:tr>
              <a:tr h="315595">
                <a:tc>
                  <a:txBody>
                    <a:bodyPr/>
                    <a:lstStyle/>
                    <a:p>
                      <a:pPr>
                        <a:buNone/>
                      </a:pPr>
                      <a:r>
                        <a:rPr lang="en-IN" sz="1200"/>
                        <a:t>Email</a:t>
                      </a:r>
                    </a:p>
                  </a:txBody>
                  <a:tcPr marL="26757" marR="26757" marT="13379" marB="13379" anchor="ctr"/>
                </a:tc>
                <a:tc>
                  <a:txBody>
                    <a:bodyPr/>
                    <a:lstStyle/>
                    <a:p>
                      <a:pPr>
                        <a:buNone/>
                      </a:pPr>
                      <a:r>
                        <a:rPr lang="en-IN" sz="1200"/>
                        <a:t>Candidate's email address</a:t>
                      </a:r>
                    </a:p>
                  </a:txBody>
                  <a:tcPr marL="26757" marR="26757" marT="13379" marB="13379" anchor="ctr"/>
                </a:tc>
                <a:tc>
                  <a:txBody>
                    <a:bodyPr/>
                    <a:lstStyle/>
                    <a:p>
                      <a:pPr>
                        <a:buNone/>
                      </a:pPr>
                      <a:r>
                        <a:rPr lang="en-IN" sz="1200">
                          <a:hlinkClick r:id="rId4"/>
                        </a:rPr>
                        <a:t>john@gmail.com</a:t>
                      </a:r>
                      <a:endParaRPr lang="en-IN" sz="1200"/>
                    </a:p>
                  </a:txBody>
                  <a:tcPr marL="26757" marR="26757" marT="13379" marB="13379" anchor="ctr"/>
                </a:tc>
                <a:extLst>
                  <a:ext uri="{0D108BD9-81ED-4DB2-BD59-A6C34878D82A}">
                    <a16:rowId xmlns:a16="http://schemas.microsoft.com/office/drawing/2014/main" val="261903427"/>
                  </a:ext>
                </a:extLst>
              </a:tr>
              <a:tr h="315595">
                <a:tc>
                  <a:txBody>
                    <a:bodyPr/>
                    <a:lstStyle/>
                    <a:p>
                      <a:pPr>
                        <a:buNone/>
                      </a:pPr>
                      <a:r>
                        <a:rPr lang="en-IN" sz="1200"/>
                        <a:t>Phone_Number</a:t>
                      </a:r>
                    </a:p>
                  </a:txBody>
                  <a:tcPr marL="26757" marR="26757" marT="13379" marB="13379" anchor="ctr"/>
                </a:tc>
                <a:tc>
                  <a:txBody>
                    <a:bodyPr/>
                    <a:lstStyle/>
                    <a:p>
                      <a:pPr>
                        <a:buNone/>
                      </a:pPr>
                      <a:r>
                        <a:rPr lang="en-IN" sz="1200"/>
                        <a:t>Contact number</a:t>
                      </a:r>
                    </a:p>
                  </a:txBody>
                  <a:tcPr marL="26757" marR="26757" marT="13379" marB="13379" anchor="ctr"/>
                </a:tc>
                <a:tc>
                  <a:txBody>
                    <a:bodyPr/>
                    <a:lstStyle/>
                    <a:p>
                      <a:pPr>
                        <a:buNone/>
                      </a:pPr>
                      <a:r>
                        <a:rPr lang="en-IN" sz="1200"/>
                        <a:t>9876543210</a:t>
                      </a:r>
                    </a:p>
                  </a:txBody>
                  <a:tcPr marL="26757" marR="26757" marT="13379" marB="13379" anchor="ctr"/>
                </a:tc>
                <a:extLst>
                  <a:ext uri="{0D108BD9-81ED-4DB2-BD59-A6C34878D82A}">
                    <a16:rowId xmlns:a16="http://schemas.microsoft.com/office/drawing/2014/main" val="5175229"/>
                  </a:ext>
                </a:extLst>
              </a:tr>
              <a:tr h="315595">
                <a:tc>
                  <a:txBody>
                    <a:bodyPr/>
                    <a:lstStyle/>
                    <a:p>
                      <a:pPr>
                        <a:buNone/>
                      </a:pPr>
                      <a:r>
                        <a:rPr lang="en-IN" sz="1200"/>
                        <a:t>Degree</a:t>
                      </a:r>
                    </a:p>
                  </a:txBody>
                  <a:tcPr marL="26757" marR="26757" marT="13379" marB="13379" anchor="ctr"/>
                </a:tc>
                <a:tc>
                  <a:txBody>
                    <a:bodyPr/>
                    <a:lstStyle/>
                    <a:p>
                      <a:pPr>
                        <a:buNone/>
                      </a:pPr>
                      <a:r>
                        <a:rPr lang="en-IN" sz="1200"/>
                        <a:t>Highest educational qualification</a:t>
                      </a:r>
                    </a:p>
                  </a:txBody>
                  <a:tcPr marL="26757" marR="26757" marT="13379" marB="13379" anchor="ctr"/>
                </a:tc>
                <a:tc>
                  <a:txBody>
                    <a:bodyPr/>
                    <a:lstStyle/>
                    <a:p>
                      <a:pPr>
                        <a:buNone/>
                      </a:pPr>
                      <a:r>
                        <a:rPr lang="en-IN" sz="1200" dirty="0" err="1"/>
                        <a:t>B.Tech</a:t>
                      </a:r>
                      <a:endParaRPr lang="en-IN" sz="1200" dirty="0"/>
                    </a:p>
                  </a:txBody>
                  <a:tcPr marL="26757" marR="26757" marT="13379" marB="13379" anchor="ctr"/>
                </a:tc>
                <a:extLst>
                  <a:ext uri="{0D108BD9-81ED-4DB2-BD59-A6C34878D82A}">
                    <a16:rowId xmlns:a16="http://schemas.microsoft.com/office/drawing/2014/main" val="3224490948"/>
                  </a:ext>
                </a:extLst>
              </a:tr>
              <a:tr h="315595">
                <a:tc>
                  <a:txBody>
                    <a:bodyPr/>
                    <a:lstStyle/>
                    <a:p>
                      <a:pPr>
                        <a:buNone/>
                      </a:pPr>
                      <a:r>
                        <a:rPr lang="en-IN" sz="1200"/>
                        <a:t>Specialization</a:t>
                      </a:r>
                    </a:p>
                  </a:txBody>
                  <a:tcPr marL="26757" marR="26757" marT="13379" marB="13379" anchor="ctr"/>
                </a:tc>
                <a:tc>
                  <a:txBody>
                    <a:bodyPr/>
                    <a:lstStyle/>
                    <a:p>
                      <a:pPr>
                        <a:buNone/>
                      </a:pPr>
                      <a:r>
                        <a:rPr lang="en-IN" sz="1200"/>
                        <a:t>Field of study</a:t>
                      </a:r>
                    </a:p>
                  </a:txBody>
                  <a:tcPr marL="26757" marR="26757" marT="13379" marB="13379" anchor="ctr"/>
                </a:tc>
                <a:tc>
                  <a:txBody>
                    <a:bodyPr/>
                    <a:lstStyle/>
                    <a:p>
                      <a:pPr>
                        <a:buNone/>
                      </a:pPr>
                      <a:r>
                        <a:rPr lang="en-IN" sz="1200"/>
                        <a:t>Computer Science</a:t>
                      </a:r>
                    </a:p>
                  </a:txBody>
                  <a:tcPr marL="26757" marR="26757" marT="13379" marB="13379" anchor="ctr"/>
                </a:tc>
                <a:extLst>
                  <a:ext uri="{0D108BD9-81ED-4DB2-BD59-A6C34878D82A}">
                    <a16:rowId xmlns:a16="http://schemas.microsoft.com/office/drawing/2014/main" val="3113526913"/>
                  </a:ext>
                </a:extLst>
              </a:tr>
              <a:tr h="315595">
                <a:tc>
                  <a:txBody>
                    <a:bodyPr/>
                    <a:lstStyle/>
                    <a:p>
                      <a:pPr>
                        <a:buNone/>
                      </a:pPr>
                      <a:r>
                        <a:rPr lang="en-IN" sz="1200"/>
                        <a:t>University</a:t>
                      </a:r>
                    </a:p>
                  </a:txBody>
                  <a:tcPr marL="26757" marR="26757" marT="13379" marB="13379" anchor="ctr"/>
                </a:tc>
                <a:tc>
                  <a:txBody>
                    <a:bodyPr/>
                    <a:lstStyle/>
                    <a:p>
                      <a:pPr>
                        <a:buNone/>
                      </a:pPr>
                      <a:r>
                        <a:rPr lang="en-IN" sz="1200" dirty="0"/>
                        <a:t>University/College name</a:t>
                      </a:r>
                    </a:p>
                  </a:txBody>
                  <a:tcPr marL="26757" marR="26757" marT="13379" marB="13379" anchor="ctr"/>
                </a:tc>
                <a:tc>
                  <a:txBody>
                    <a:bodyPr/>
                    <a:lstStyle/>
                    <a:p>
                      <a:pPr>
                        <a:buNone/>
                      </a:pPr>
                      <a:r>
                        <a:rPr lang="en-IN" sz="1200"/>
                        <a:t>XYZ University</a:t>
                      </a:r>
                    </a:p>
                  </a:txBody>
                  <a:tcPr marL="26757" marR="26757" marT="13379" marB="13379" anchor="ctr"/>
                </a:tc>
                <a:extLst>
                  <a:ext uri="{0D108BD9-81ED-4DB2-BD59-A6C34878D82A}">
                    <a16:rowId xmlns:a16="http://schemas.microsoft.com/office/drawing/2014/main" val="651297229"/>
                  </a:ext>
                </a:extLst>
              </a:tr>
              <a:tr h="315595">
                <a:tc>
                  <a:txBody>
                    <a:bodyPr/>
                    <a:lstStyle/>
                    <a:p>
                      <a:pPr>
                        <a:buNone/>
                      </a:pPr>
                      <a:r>
                        <a:rPr lang="en-IN" sz="1200"/>
                        <a:t>Graduation_Year</a:t>
                      </a:r>
                    </a:p>
                  </a:txBody>
                  <a:tcPr marL="26757" marR="26757" marT="13379" marB="13379" anchor="ctr"/>
                </a:tc>
                <a:tc>
                  <a:txBody>
                    <a:bodyPr/>
                    <a:lstStyle/>
                    <a:p>
                      <a:pPr>
                        <a:buNone/>
                      </a:pPr>
                      <a:r>
                        <a:rPr lang="en-IN" sz="1200"/>
                        <a:t>Year of graduation</a:t>
                      </a:r>
                    </a:p>
                  </a:txBody>
                  <a:tcPr marL="26757" marR="26757" marT="13379" marB="13379" anchor="ctr"/>
                </a:tc>
                <a:tc>
                  <a:txBody>
                    <a:bodyPr/>
                    <a:lstStyle/>
                    <a:p>
                      <a:pPr>
                        <a:buNone/>
                      </a:pPr>
                      <a:r>
                        <a:rPr lang="en-IN" sz="1200"/>
                        <a:t>2024</a:t>
                      </a:r>
                    </a:p>
                  </a:txBody>
                  <a:tcPr marL="26757" marR="26757" marT="13379" marB="13379" anchor="ctr"/>
                </a:tc>
                <a:extLst>
                  <a:ext uri="{0D108BD9-81ED-4DB2-BD59-A6C34878D82A}">
                    <a16:rowId xmlns:a16="http://schemas.microsoft.com/office/drawing/2014/main" val="1960026752"/>
                  </a:ext>
                </a:extLst>
              </a:tr>
              <a:tr h="315595">
                <a:tc>
                  <a:txBody>
                    <a:bodyPr/>
                    <a:lstStyle/>
                    <a:p>
                      <a:pPr>
                        <a:buNone/>
                      </a:pPr>
                      <a:r>
                        <a:rPr lang="en-IN" sz="1200"/>
                        <a:t>CGPA/Percentage</a:t>
                      </a:r>
                    </a:p>
                  </a:txBody>
                  <a:tcPr marL="26757" marR="26757" marT="13379" marB="13379" anchor="ctr"/>
                </a:tc>
                <a:tc>
                  <a:txBody>
                    <a:bodyPr/>
                    <a:lstStyle/>
                    <a:p>
                      <a:pPr>
                        <a:buNone/>
                      </a:pPr>
                      <a:r>
                        <a:rPr lang="en-IN" sz="1200"/>
                        <a:t>Academic performance</a:t>
                      </a:r>
                    </a:p>
                  </a:txBody>
                  <a:tcPr marL="26757" marR="26757" marT="13379" marB="13379" anchor="ctr"/>
                </a:tc>
                <a:tc>
                  <a:txBody>
                    <a:bodyPr/>
                    <a:lstStyle/>
                    <a:p>
                      <a:pPr>
                        <a:buNone/>
                      </a:pPr>
                      <a:r>
                        <a:rPr lang="en-IN" sz="1200"/>
                        <a:t>8.5 CGPA</a:t>
                      </a:r>
                    </a:p>
                  </a:txBody>
                  <a:tcPr marL="26757" marR="26757" marT="13379" marB="13379" anchor="ctr"/>
                </a:tc>
                <a:extLst>
                  <a:ext uri="{0D108BD9-81ED-4DB2-BD59-A6C34878D82A}">
                    <a16:rowId xmlns:a16="http://schemas.microsoft.com/office/drawing/2014/main" val="3257161167"/>
                  </a:ext>
                </a:extLst>
              </a:tr>
              <a:tr h="315595">
                <a:tc>
                  <a:txBody>
                    <a:bodyPr/>
                    <a:lstStyle/>
                    <a:p>
                      <a:pPr>
                        <a:buNone/>
                      </a:pPr>
                      <a:r>
                        <a:rPr lang="en-IN" sz="1200"/>
                        <a:t>Experience_Years</a:t>
                      </a:r>
                    </a:p>
                  </a:txBody>
                  <a:tcPr marL="26757" marR="26757" marT="13379" marB="13379" anchor="ctr"/>
                </a:tc>
                <a:tc>
                  <a:txBody>
                    <a:bodyPr/>
                    <a:lstStyle/>
                    <a:p>
                      <a:pPr>
                        <a:buNone/>
                      </a:pPr>
                      <a:r>
                        <a:rPr lang="en-IN" sz="1200"/>
                        <a:t>Total work experience (in years)</a:t>
                      </a:r>
                    </a:p>
                  </a:txBody>
                  <a:tcPr marL="26757" marR="26757" marT="13379" marB="13379" anchor="ctr"/>
                </a:tc>
                <a:tc>
                  <a:txBody>
                    <a:bodyPr/>
                    <a:lstStyle/>
                    <a:p>
                      <a:pPr>
                        <a:buNone/>
                      </a:pPr>
                      <a:r>
                        <a:rPr lang="en-IN" sz="1200"/>
                        <a:t>2</a:t>
                      </a:r>
                    </a:p>
                  </a:txBody>
                  <a:tcPr marL="26757" marR="26757" marT="13379" marB="13379" anchor="ctr"/>
                </a:tc>
                <a:extLst>
                  <a:ext uri="{0D108BD9-81ED-4DB2-BD59-A6C34878D82A}">
                    <a16:rowId xmlns:a16="http://schemas.microsoft.com/office/drawing/2014/main" val="340915369"/>
                  </a:ext>
                </a:extLst>
              </a:tr>
              <a:tr h="315595">
                <a:tc>
                  <a:txBody>
                    <a:bodyPr/>
                    <a:lstStyle/>
                    <a:p>
                      <a:pPr>
                        <a:buNone/>
                      </a:pPr>
                      <a:r>
                        <a:rPr lang="en-IN" sz="1200"/>
                        <a:t>Current_Job_Title</a:t>
                      </a:r>
                    </a:p>
                  </a:txBody>
                  <a:tcPr marL="26757" marR="26757" marT="13379" marB="13379" anchor="ctr"/>
                </a:tc>
                <a:tc>
                  <a:txBody>
                    <a:bodyPr/>
                    <a:lstStyle/>
                    <a:p>
                      <a:pPr>
                        <a:buNone/>
                      </a:pPr>
                      <a:r>
                        <a:rPr lang="en-IN" sz="1200"/>
                        <a:t>Current or previous job role</a:t>
                      </a:r>
                    </a:p>
                  </a:txBody>
                  <a:tcPr marL="26757" marR="26757" marT="13379" marB="13379" anchor="ctr"/>
                </a:tc>
                <a:tc>
                  <a:txBody>
                    <a:bodyPr/>
                    <a:lstStyle/>
                    <a:p>
                      <a:pPr>
                        <a:buNone/>
                      </a:pPr>
                      <a:r>
                        <a:rPr lang="en-IN" sz="1200"/>
                        <a:t>Software Engineer</a:t>
                      </a:r>
                    </a:p>
                  </a:txBody>
                  <a:tcPr marL="26757" marR="26757" marT="13379" marB="13379" anchor="ctr"/>
                </a:tc>
                <a:extLst>
                  <a:ext uri="{0D108BD9-81ED-4DB2-BD59-A6C34878D82A}">
                    <a16:rowId xmlns:a16="http://schemas.microsoft.com/office/drawing/2014/main" val="3209639958"/>
                  </a:ext>
                </a:extLst>
              </a:tr>
              <a:tr h="552291">
                <a:tc>
                  <a:txBody>
                    <a:bodyPr/>
                    <a:lstStyle/>
                    <a:p>
                      <a:pPr>
                        <a:buNone/>
                      </a:pPr>
                      <a:r>
                        <a:rPr lang="en-IN" sz="1200" dirty="0" err="1"/>
                        <a:t>Technical_Skills</a:t>
                      </a:r>
                      <a:endParaRPr lang="en-IN" sz="1200" dirty="0"/>
                    </a:p>
                  </a:txBody>
                  <a:tcPr marL="26757" marR="26757" marT="13379" marB="13379" anchor="ctr"/>
                </a:tc>
                <a:tc>
                  <a:txBody>
                    <a:bodyPr/>
                    <a:lstStyle/>
                    <a:p>
                      <a:pPr>
                        <a:buNone/>
                      </a:pPr>
                      <a:r>
                        <a:rPr lang="en-IN" sz="1200"/>
                        <a:t>Programming and technical skills</a:t>
                      </a:r>
                    </a:p>
                  </a:txBody>
                  <a:tcPr marL="26757" marR="26757" marT="13379" marB="13379" anchor="ctr"/>
                </a:tc>
                <a:tc>
                  <a:txBody>
                    <a:bodyPr/>
                    <a:lstStyle/>
                    <a:p>
                      <a:pPr>
                        <a:buNone/>
                      </a:pPr>
                      <a:r>
                        <a:rPr lang="en-IN" sz="1200" dirty="0"/>
                        <a:t>Python, Java, SQL, Machine Learning</a:t>
                      </a:r>
                    </a:p>
                  </a:txBody>
                  <a:tcPr marL="26757" marR="26757" marT="13379" marB="13379" anchor="ctr"/>
                </a:tc>
                <a:extLst>
                  <a:ext uri="{0D108BD9-81ED-4DB2-BD59-A6C34878D82A}">
                    <a16:rowId xmlns:a16="http://schemas.microsoft.com/office/drawing/2014/main" val="3988016846"/>
                  </a:ext>
                </a:extLst>
              </a:tr>
            </a:tbl>
          </a:graphicData>
        </a:graphic>
      </p:graphicFrame>
      <p:graphicFrame>
        <p:nvGraphicFramePr>
          <p:cNvPr id="8" name="Table 7">
            <a:extLst>
              <a:ext uri="{FF2B5EF4-FFF2-40B4-BE49-F238E27FC236}">
                <a16:creationId xmlns:a16="http://schemas.microsoft.com/office/drawing/2014/main" id="{B5FE7010-526F-5E63-B570-D4B219B60DA0}"/>
              </a:ext>
            </a:extLst>
          </p:cNvPr>
          <p:cNvGraphicFramePr>
            <a:graphicFrameLocks noGrp="1"/>
          </p:cNvGraphicFramePr>
          <p:nvPr>
            <p:extLst>
              <p:ext uri="{D42A27DB-BD31-4B8C-83A1-F6EECF244321}">
                <p14:modId xmlns:p14="http://schemas.microsoft.com/office/powerpoint/2010/main" val="655230830"/>
              </p:ext>
            </p:extLst>
          </p:nvPr>
        </p:nvGraphicFramePr>
        <p:xfrm>
          <a:off x="6096000" y="1088390"/>
          <a:ext cx="4495800" cy="5148329"/>
        </p:xfrm>
        <a:graphic>
          <a:graphicData uri="http://schemas.openxmlformats.org/drawingml/2006/table">
            <a:tbl>
              <a:tblPr>
                <a:tableStyleId>{0505E3EF-67EA-436B-97B2-0124C06EBD24}</a:tableStyleId>
              </a:tblPr>
              <a:tblGrid>
                <a:gridCol w="1498600">
                  <a:extLst>
                    <a:ext uri="{9D8B030D-6E8A-4147-A177-3AD203B41FA5}">
                      <a16:colId xmlns:a16="http://schemas.microsoft.com/office/drawing/2014/main" val="1828661407"/>
                    </a:ext>
                  </a:extLst>
                </a:gridCol>
                <a:gridCol w="1498600">
                  <a:extLst>
                    <a:ext uri="{9D8B030D-6E8A-4147-A177-3AD203B41FA5}">
                      <a16:colId xmlns:a16="http://schemas.microsoft.com/office/drawing/2014/main" val="339951484"/>
                    </a:ext>
                  </a:extLst>
                </a:gridCol>
                <a:gridCol w="1498600">
                  <a:extLst>
                    <a:ext uri="{9D8B030D-6E8A-4147-A177-3AD203B41FA5}">
                      <a16:colId xmlns:a16="http://schemas.microsoft.com/office/drawing/2014/main" val="3600275661"/>
                    </a:ext>
                  </a:extLst>
                </a:gridCol>
              </a:tblGrid>
              <a:tr h="447049">
                <a:tc>
                  <a:txBody>
                    <a:bodyPr/>
                    <a:lstStyle/>
                    <a:p>
                      <a:pPr>
                        <a:buNone/>
                      </a:pPr>
                      <a:r>
                        <a:rPr lang="en-IN" sz="1200" dirty="0" err="1"/>
                        <a:t>Soft_Skills</a:t>
                      </a:r>
                      <a:endParaRPr lang="en-IN" sz="1200" dirty="0"/>
                    </a:p>
                  </a:txBody>
                  <a:tcPr marL="26757" marR="26757" marT="13379" marB="13379" anchor="ctr"/>
                </a:tc>
                <a:tc>
                  <a:txBody>
                    <a:bodyPr/>
                    <a:lstStyle/>
                    <a:p>
                      <a:pPr>
                        <a:buNone/>
                      </a:pPr>
                      <a:r>
                        <a:rPr lang="en-IN" sz="1200"/>
                        <a:t>Communication and interpersonal skills</a:t>
                      </a:r>
                    </a:p>
                  </a:txBody>
                  <a:tcPr marL="26757" marR="26757" marT="13379" marB="13379" anchor="ctr"/>
                </a:tc>
                <a:tc>
                  <a:txBody>
                    <a:bodyPr/>
                    <a:lstStyle/>
                    <a:p>
                      <a:pPr>
                        <a:buNone/>
                      </a:pPr>
                      <a:r>
                        <a:rPr lang="en-IN" sz="1200"/>
                        <a:t>Teamwork, Communication</a:t>
                      </a:r>
                    </a:p>
                  </a:txBody>
                  <a:tcPr marL="26757" marR="26757" marT="13379" marB="13379" anchor="ctr"/>
                </a:tc>
                <a:extLst>
                  <a:ext uri="{0D108BD9-81ED-4DB2-BD59-A6C34878D82A}">
                    <a16:rowId xmlns:a16="http://schemas.microsoft.com/office/drawing/2014/main" val="1999648118"/>
                  </a:ext>
                </a:extLst>
              </a:tr>
              <a:tr h="379340">
                <a:tc>
                  <a:txBody>
                    <a:bodyPr/>
                    <a:lstStyle/>
                    <a:p>
                      <a:pPr>
                        <a:buNone/>
                      </a:pPr>
                      <a:r>
                        <a:rPr lang="en-IN" sz="1200" dirty="0"/>
                        <a:t>Certifications</a:t>
                      </a:r>
                    </a:p>
                  </a:txBody>
                  <a:tcPr marL="26757" marR="26757" marT="13379" marB="13379" anchor="ctr"/>
                </a:tc>
                <a:tc>
                  <a:txBody>
                    <a:bodyPr/>
                    <a:lstStyle/>
                    <a:p>
                      <a:pPr>
                        <a:buNone/>
                      </a:pPr>
                      <a:r>
                        <a:rPr lang="en-IN" sz="1200" dirty="0"/>
                        <a:t>Professional certifications</a:t>
                      </a:r>
                    </a:p>
                  </a:txBody>
                  <a:tcPr marL="26757" marR="26757" marT="13379" marB="13379" anchor="ctr"/>
                </a:tc>
                <a:tc>
                  <a:txBody>
                    <a:bodyPr/>
                    <a:lstStyle/>
                    <a:p>
                      <a:pPr>
                        <a:buNone/>
                      </a:pPr>
                      <a:r>
                        <a:rPr lang="en-IN" sz="1200"/>
                        <a:t>AWS Cloud Practitioner</a:t>
                      </a:r>
                    </a:p>
                  </a:txBody>
                  <a:tcPr marL="26757" marR="26757" marT="13379" marB="13379" anchor="ctr"/>
                </a:tc>
                <a:extLst>
                  <a:ext uri="{0D108BD9-81ED-4DB2-BD59-A6C34878D82A}">
                    <a16:rowId xmlns:a16="http://schemas.microsoft.com/office/drawing/2014/main" val="3476739358"/>
                  </a:ext>
                </a:extLst>
              </a:tr>
              <a:tr h="556080">
                <a:tc>
                  <a:txBody>
                    <a:bodyPr/>
                    <a:lstStyle/>
                    <a:p>
                      <a:pPr>
                        <a:buNone/>
                      </a:pPr>
                      <a:r>
                        <a:rPr lang="en-IN" sz="1200"/>
                        <a:t>Projects</a:t>
                      </a:r>
                    </a:p>
                  </a:txBody>
                  <a:tcPr marL="26757" marR="26757" marT="13379" marB="13379" anchor="ctr"/>
                </a:tc>
                <a:tc>
                  <a:txBody>
                    <a:bodyPr/>
                    <a:lstStyle/>
                    <a:p>
                      <a:pPr>
                        <a:buNone/>
                      </a:pPr>
                      <a:r>
                        <a:rPr lang="en-IN" sz="1200" dirty="0"/>
                        <a:t>Major academic/professional projects</a:t>
                      </a:r>
                    </a:p>
                  </a:txBody>
                  <a:tcPr marL="26757" marR="26757" marT="13379" marB="13379" anchor="ctr"/>
                </a:tc>
                <a:tc>
                  <a:txBody>
                    <a:bodyPr/>
                    <a:lstStyle/>
                    <a:p>
                      <a:pPr>
                        <a:buNone/>
                      </a:pPr>
                      <a:r>
                        <a:rPr lang="en-IN" sz="1200" dirty="0"/>
                        <a:t>AI Chatbot</a:t>
                      </a:r>
                    </a:p>
                  </a:txBody>
                  <a:tcPr marL="26757" marR="26757" marT="13379" marB="13379" anchor="ctr"/>
                </a:tc>
                <a:extLst>
                  <a:ext uri="{0D108BD9-81ED-4DB2-BD59-A6C34878D82A}">
                    <a16:rowId xmlns:a16="http://schemas.microsoft.com/office/drawing/2014/main" val="1127879396"/>
                  </a:ext>
                </a:extLst>
              </a:tr>
              <a:tr h="447049">
                <a:tc>
                  <a:txBody>
                    <a:bodyPr/>
                    <a:lstStyle/>
                    <a:p>
                      <a:pPr>
                        <a:buNone/>
                      </a:pPr>
                      <a:r>
                        <a:rPr lang="en-IN" sz="1200"/>
                        <a:t>Resume_Text</a:t>
                      </a:r>
                    </a:p>
                  </a:txBody>
                  <a:tcPr marL="26757" marR="26757" marT="13379" marB="13379" anchor="ctr"/>
                </a:tc>
                <a:tc>
                  <a:txBody>
                    <a:bodyPr/>
                    <a:lstStyle/>
                    <a:p>
                      <a:pPr>
                        <a:buNone/>
                      </a:pPr>
                      <a:r>
                        <a:rPr lang="en-IN" sz="1200"/>
                        <a:t>Extracted text from the resume (optional)</a:t>
                      </a:r>
                    </a:p>
                  </a:txBody>
                  <a:tcPr marL="26757" marR="26757" marT="13379" marB="13379" anchor="ctr"/>
                </a:tc>
                <a:tc>
                  <a:txBody>
                    <a:bodyPr/>
                    <a:lstStyle/>
                    <a:p>
                      <a:pPr>
                        <a:buNone/>
                      </a:pPr>
                      <a:r>
                        <a:rPr lang="en-IN" sz="1200" dirty="0"/>
                        <a:t>Full resume text</a:t>
                      </a:r>
                    </a:p>
                  </a:txBody>
                  <a:tcPr marL="26757" marR="26757" marT="13379" marB="13379" anchor="ctr"/>
                </a:tc>
                <a:extLst>
                  <a:ext uri="{0D108BD9-81ED-4DB2-BD59-A6C34878D82A}">
                    <a16:rowId xmlns:a16="http://schemas.microsoft.com/office/drawing/2014/main" val="2691240408"/>
                  </a:ext>
                </a:extLst>
              </a:tr>
              <a:tr h="255458">
                <a:tc>
                  <a:txBody>
                    <a:bodyPr/>
                    <a:lstStyle/>
                    <a:p>
                      <a:pPr>
                        <a:buNone/>
                      </a:pPr>
                      <a:r>
                        <a:rPr lang="en-IN" sz="1200" dirty="0" err="1"/>
                        <a:t>Job_Role_Applied</a:t>
                      </a:r>
                      <a:endParaRPr lang="en-IN" sz="1200" dirty="0"/>
                    </a:p>
                  </a:txBody>
                  <a:tcPr marL="26757" marR="26757" marT="13379" marB="13379" anchor="ctr"/>
                </a:tc>
                <a:tc>
                  <a:txBody>
                    <a:bodyPr/>
                    <a:lstStyle/>
                    <a:p>
                      <a:pPr>
                        <a:buNone/>
                      </a:pPr>
                      <a:r>
                        <a:rPr lang="en-IN" sz="1200"/>
                        <a:t>Position applied for</a:t>
                      </a:r>
                    </a:p>
                  </a:txBody>
                  <a:tcPr marL="26757" marR="26757" marT="13379" marB="13379" anchor="ctr"/>
                </a:tc>
                <a:tc>
                  <a:txBody>
                    <a:bodyPr/>
                    <a:lstStyle/>
                    <a:p>
                      <a:pPr>
                        <a:buNone/>
                      </a:pPr>
                      <a:r>
                        <a:rPr lang="en-IN" sz="1200" dirty="0"/>
                        <a:t>Data Analyst</a:t>
                      </a:r>
                    </a:p>
                  </a:txBody>
                  <a:tcPr marL="26757" marR="26757" marT="13379" marB="13379" anchor="ctr"/>
                </a:tc>
                <a:extLst>
                  <a:ext uri="{0D108BD9-81ED-4DB2-BD59-A6C34878D82A}">
                    <a16:rowId xmlns:a16="http://schemas.microsoft.com/office/drawing/2014/main" val="2825922557"/>
                  </a:ext>
                </a:extLst>
              </a:tr>
              <a:tr h="379340">
                <a:tc>
                  <a:txBody>
                    <a:bodyPr/>
                    <a:lstStyle/>
                    <a:p>
                      <a:pPr>
                        <a:buNone/>
                      </a:pPr>
                      <a:r>
                        <a:rPr lang="en-IN" sz="1200"/>
                        <a:t>Required_Skills</a:t>
                      </a:r>
                    </a:p>
                  </a:txBody>
                  <a:tcPr marL="26757" marR="26757" marT="13379" marB="13379" anchor="ctr"/>
                </a:tc>
                <a:tc>
                  <a:txBody>
                    <a:bodyPr/>
                    <a:lstStyle/>
                    <a:p>
                      <a:pPr>
                        <a:buNone/>
                      </a:pPr>
                      <a:r>
                        <a:rPr lang="en-IN" sz="1200"/>
                        <a:t>Skills required for the applied job</a:t>
                      </a:r>
                    </a:p>
                  </a:txBody>
                  <a:tcPr marL="26757" marR="26757" marT="13379" marB="13379" anchor="ctr"/>
                </a:tc>
                <a:tc>
                  <a:txBody>
                    <a:bodyPr/>
                    <a:lstStyle/>
                    <a:p>
                      <a:pPr>
                        <a:buNone/>
                      </a:pPr>
                      <a:r>
                        <a:rPr lang="en-IN" sz="1200"/>
                        <a:t>Python, SQL, Excel</a:t>
                      </a:r>
                    </a:p>
                  </a:txBody>
                  <a:tcPr marL="26757" marR="26757" marT="13379" marB="13379" anchor="ctr"/>
                </a:tc>
                <a:extLst>
                  <a:ext uri="{0D108BD9-81ED-4DB2-BD59-A6C34878D82A}">
                    <a16:rowId xmlns:a16="http://schemas.microsoft.com/office/drawing/2014/main" val="2369869757"/>
                  </a:ext>
                </a:extLst>
              </a:tr>
              <a:tr h="379340">
                <a:tc>
                  <a:txBody>
                    <a:bodyPr/>
                    <a:lstStyle/>
                    <a:p>
                      <a:pPr>
                        <a:buNone/>
                      </a:pPr>
                      <a:r>
                        <a:rPr lang="en-IN" sz="1200"/>
                        <a:t>Skill_Match_Score</a:t>
                      </a:r>
                    </a:p>
                  </a:txBody>
                  <a:tcPr marL="26757" marR="26757" marT="13379" marB="13379" anchor="ctr"/>
                </a:tc>
                <a:tc>
                  <a:txBody>
                    <a:bodyPr/>
                    <a:lstStyle/>
                    <a:p>
                      <a:pPr>
                        <a:buNone/>
                      </a:pPr>
                      <a:r>
                        <a:rPr lang="en-IN" sz="1200"/>
                        <a:t>Percentage of skill match</a:t>
                      </a:r>
                    </a:p>
                  </a:txBody>
                  <a:tcPr marL="26757" marR="26757" marT="13379" marB="13379" anchor="ctr"/>
                </a:tc>
                <a:tc>
                  <a:txBody>
                    <a:bodyPr/>
                    <a:lstStyle/>
                    <a:p>
                      <a:pPr>
                        <a:buNone/>
                      </a:pPr>
                      <a:r>
                        <a:rPr lang="en-IN" sz="1200" dirty="0"/>
                        <a:t>88%</a:t>
                      </a:r>
                    </a:p>
                  </a:txBody>
                  <a:tcPr marL="26757" marR="26757" marT="13379" marB="13379" anchor="ctr"/>
                </a:tc>
                <a:extLst>
                  <a:ext uri="{0D108BD9-81ED-4DB2-BD59-A6C34878D82A}">
                    <a16:rowId xmlns:a16="http://schemas.microsoft.com/office/drawing/2014/main" val="3842057872"/>
                  </a:ext>
                </a:extLst>
              </a:tr>
              <a:tr h="556080">
                <a:tc>
                  <a:txBody>
                    <a:bodyPr/>
                    <a:lstStyle/>
                    <a:p>
                      <a:pPr>
                        <a:buNone/>
                      </a:pPr>
                      <a:r>
                        <a:rPr lang="en-IN" sz="1200"/>
                        <a:t>Education_Match</a:t>
                      </a:r>
                    </a:p>
                  </a:txBody>
                  <a:tcPr marL="26757" marR="26757" marT="13379" marB="13379" anchor="ctr"/>
                </a:tc>
                <a:tc>
                  <a:txBody>
                    <a:bodyPr/>
                    <a:lstStyle/>
                    <a:p>
                      <a:pPr>
                        <a:buNone/>
                      </a:pPr>
                      <a:r>
                        <a:rPr lang="en-IN" sz="1200"/>
                        <a:t>Whether education matches job requirements</a:t>
                      </a:r>
                    </a:p>
                  </a:txBody>
                  <a:tcPr marL="26757" marR="26757" marT="13379" marB="13379" anchor="ctr"/>
                </a:tc>
                <a:tc>
                  <a:txBody>
                    <a:bodyPr/>
                    <a:lstStyle/>
                    <a:p>
                      <a:pPr>
                        <a:buNone/>
                      </a:pPr>
                      <a:r>
                        <a:rPr lang="en-IN" sz="1200" dirty="0"/>
                        <a:t>Yes</a:t>
                      </a:r>
                    </a:p>
                  </a:txBody>
                  <a:tcPr marL="26757" marR="26757" marT="13379" marB="13379" anchor="ctr"/>
                </a:tc>
                <a:extLst>
                  <a:ext uri="{0D108BD9-81ED-4DB2-BD59-A6C34878D82A}">
                    <a16:rowId xmlns:a16="http://schemas.microsoft.com/office/drawing/2014/main" val="2024989449"/>
                  </a:ext>
                </a:extLst>
              </a:tr>
              <a:tr h="556080">
                <a:tc>
                  <a:txBody>
                    <a:bodyPr/>
                    <a:lstStyle/>
                    <a:p>
                      <a:pPr>
                        <a:buNone/>
                      </a:pPr>
                      <a:r>
                        <a:rPr lang="en-IN" sz="1200"/>
                        <a:t>Experience_Match</a:t>
                      </a:r>
                    </a:p>
                  </a:txBody>
                  <a:tcPr marL="26757" marR="26757" marT="13379" marB="13379" anchor="ctr"/>
                </a:tc>
                <a:tc>
                  <a:txBody>
                    <a:bodyPr/>
                    <a:lstStyle/>
                    <a:p>
                      <a:pPr>
                        <a:buNone/>
                      </a:pPr>
                      <a:r>
                        <a:rPr lang="en-IN" sz="1200"/>
                        <a:t>Whether experience matches job requirements</a:t>
                      </a:r>
                    </a:p>
                  </a:txBody>
                  <a:tcPr marL="26757" marR="26757" marT="13379" marB="13379" anchor="ctr"/>
                </a:tc>
                <a:tc>
                  <a:txBody>
                    <a:bodyPr/>
                    <a:lstStyle/>
                    <a:p>
                      <a:pPr>
                        <a:buNone/>
                      </a:pPr>
                      <a:r>
                        <a:rPr lang="en-IN" sz="1200" dirty="0"/>
                        <a:t>Yes</a:t>
                      </a:r>
                    </a:p>
                  </a:txBody>
                  <a:tcPr marL="26757" marR="26757" marT="13379" marB="13379" anchor="ctr"/>
                </a:tc>
                <a:extLst>
                  <a:ext uri="{0D108BD9-81ED-4DB2-BD59-A6C34878D82A}">
                    <a16:rowId xmlns:a16="http://schemas.microsoft.com/office/drawing/2014/main" val="2368123633"/>
                  </a:ext>
                </a:extLst>
              </a:tr>
              <a:tr h="447049">
                <a:tc>
                  <a:txBody>
                    <a:bodyPr/>
                    <a:lstStyle/>
                    <a:p>
                      <a:pPr>
                        <a:buNone/>
                      </a:pPr>
                      <a:r>
                        <a:rPr lang="en-IN" sz="1200"/>
                        <a:t>Overall_Match_Score</a:t>
                      </a:r>
                    </a:p>
                  </a:txBody>
                  <a:tcPr marL="26757" marR="26757" marT="13379" marB="13379" anchor="ctr"/>
                </a:tc>
                <a:tc>
                  <a:txBody>
                    <a:bodyPr/>
                    <a:lstStyle/>
                    <a:p>
                      <a:pPr>
                        <a:buNone/>
                      </a:pPr>
                      <a:r>
                        <a:rPr lang="en-IN" sz="1200"/>
                        <a:t>Final AI-generated candidate score</a:t>
                      </a:r>
                    </a:p>
                  </a:txBody>
                  <a:tcPr marL="26757" marR="26757" marT="13379" marB="13379" anchor="ctr"/>
                </a:tc>
                <a:tc>
                  <a:txBody>
                    <a:bodyPr/>
                    <a:lstStyle/>
                    <a:p>
                      <a:pPr>
                        <a:buNone/>
                      </a:pPr>
                      <a:r>
                        <a:rPr lang="en-IN" sz="1200" dirty="0"/>
                        <a:t>91%</a:t>
                      </a:r>
                    </a:p>
                  </a:txBody>
                  <a:tcPr marL="26757" marR="26757" marT="13379" marB="13379" anchor="ctr"/>
                </a:tc>
                <a:extLst>
                  <a:ext uri="{0D108BD9-81ED-4DB2-BD59-A6C34878D82A}">
                    <a16:rowId xmlns:a16="http://schemas.microsoft.com/office/drawing/2014/main" val="1553023223"/>
                  </a:ext>
                </a:extLst>
              </a:tr>
              <a:tr h="379340">
                <a:tc>
                  <a:txBody>
                    <a:bodyPr/>
                    <a:lstStyle/>
                    <a:p>
                      <a:pPr>
                        <a:buNone/>
                      </a:pPr>
                      <a:r>
                        <a:rPr lang="en-IN" sz="1200"/>
                        <a:t>Candidate_Rank</a:t>
                      </a:r>
                    </a:p>
                  </a:txBody>
                  <a:tcPr marL="26757" marR="26757" marT="13379" marB="13379" anchor="ctr"/>
                </a:tc>
                <a:tc>
                  <a:txBody>
                    <a:bodyPr/>
                    <a:lstStyle/>
                    <a:p>
                      <a:pPr>
                        <a:buNone/>
                      </a:pPr>
                      <a:r>
                        <a:rPr lang="en-IN" sz="1200" dirty="0"/>
                        <a:t>Rank assigned by the system</a:t>
                      </a:r>
                    </a:p>
                  </a:txBody>
                  <a:tcPr marL="26757" marR="26757" marT="13379" marB="13379" anchor="ctr"/>
                </a:tc>
                <a:tc>
                  <a:txBody>
                    <a:bodyPr/>
                    <a:lstStyle/>
                    <a:p>
                      <a:pPr>
                        <a:buNone/>
                      </a:pPr>
                      <a:r>
                        <a:rPr lang="en-IN" sz="1200" dirty="0"/>
                        <a:t>1</a:t>
                      </a:r>
                    </a:p>
                  </a:txBody>
                  <a:tcPr marL="26757" marR="26757" marT="13379" marB="13379" anchor="ctr"/>
                </a:tc>
                <a:extLst>
                  <a:ext uri="{0D108BD9-81ED-4DB2-BD59-A6C34878D82A}">
                    <a16:rowId xmlns:a16="http://schemas.microsoft.com/office/drawing/2014/main" val="2398363198"/>
                  </a:ext>
                </a:extLst>
              </a:tr>
              <a:tr h="255458">
                <a:tc>
                  <a:txBody>
                    <a:bodyPr/>
                    <a:lstStyle/>
                    <a:p>
                      <a:pPr>
                        <a:buNone/>
                      </a:pPr>
                      <a:r>
                        <a:rPr lang="en-IN" sz="1200" dirty="0"/>
                        <a:t>Shortlisted</a:t>
                      </a:r>
                    </a:p>
                  </a:txBody>
                  <a:tcPr marL="26757" marR="26757" marT="13379" marB="13379" anchor="ctr"/>
                </a:tc>
                <a:tc>
                  <a:txBody>
                    <a:bodyPr/>
                    <a:lstStyle/>
                    <a:p>
                      <a:pPr>
                        <a:buNone/>
                      </a:pPr>
                      <a:r>
                        <a:rPr lang="en-IN" sz="1200" dirty="0"/>
                        <a:t>Final selection status</a:t>
                      </a:r>
                    </a:p>
                  </a:txBody>
                  <a:tcPr marL="26757" marR="26757" marT="13379" marB="13379" anchor="ctr"/>
                </a:tc>
                <a:tc>
                  <a:txBody>
                    <a:bodyPr/>
                    <a:lstStyle/>
                    <a:p>
                      <a:pPr>
                        <a:buNone/>
                      </a:pPr>
                      <a:r>
                        <a:rPr lang="en-IN" sz="1200" dirty="0"/>
                        <a:t>Yes</a:t>
                      </a:r>
                    </a:p>
                  </a:txBody>
                  <a:tcPr marL="26757" marR="26757" marT="13379" marB="13379" anchor="ctr"/>
                </a:tc>
                <a:extLst>
                  <a:ext uri="{0D108BD9-81ED-4DB2-BD59-A6C34878D82A}">
                    <a16:rowId xmlns:a16="http://schemas.microsoft.com/office/drawing/2014/main" val="3196282737"/>
                  </a:ext>
                </a:extLst>
              </a:tr>
            </a:tbl>
          </a:graphicData>
        </a:graphic>
      </p:graphicFrame>
    </p:spTree>
    <p:extLst>
      <p:ext uri="{BB962C8B-B14F-4D97-AF65-F5344CB8AC3E}">
        <p14:creationId xmlns:p14="http://schemas.microsoft.com/office/powerpoint/2010/main" val="3960794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D680E-5CC9-DA40-4D67-9198F575A40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BDF2670-1A2C-B176-7D14-7A1781F72FC6}"/>
              </a:ext>
            </a:extLst>
          </p:cNvPr>
          <p:cNvPicPr>
            <a:picLocks noChangeAspect="1"/>
          </p:cNvPicPr>
          <p:nvPr/>
        </p:nvPicPr>
        <p:blipFill>
          <a:blip r:embed="rId2"/>
          <a:stretch>
            <a:fillRect/>
          </a:stretch>
        </p:blipFill>
        <p:spPr>
          <a:xfrm>
            <a:off x="457200" y="494481"/>
            <a:ext cx="11277600" cy="5869038"/>
          </a:xfrm>
          <a:prstGeom prst="rect">
            <a:avLst/>
          </a:prstGeom>
        </p:spPr>
      </p:pic>
      <p:pic>
        <p:nvPicPr>
          <p:cNvPr id="11" name="object 2">
            <a:extLst>
              <a:ext uri="{FF2B5EF4-FFF2-40B4-BE49-F238E27FC236}">
                <a16:creationId xmlns:a16="http://schemas.microsoft.com/office/drawing/2014/main" id="{9E56904B-9876-5BAC-CB14-7231824932AD}"/>
              </a:ext>
            </a:extLst>
          </p:cNvPr>
          <p:cNvPicPr/>
          <p:nvPr/>
        </p:nvPicPr>
        <p:blipFill>
          <a:blip r:embed="rId3" cstate="print"/>
          <a:stretch>
            <a:fillRect/>
          </a:stretch>
        </p:blipFill>
        <p:spPr>
          <a:xfrm>
            <a:off x="10671938" y="0"/>
            <a:ext cx="1520062" cy="1342897"/>
          </a:xfrm>
          <a:prstGeom prst="rect">
            <a:avLst/>
          </a:prstGeom>
        </p:spPr>
      </p:pic>
    </p:spTree>
    <p:extLst>
      <p:ext uri="{BB962C8B-B14F-4D97-AF65-F5344CB8AC3E}">
        <p14:creationId xmlns:p14="http://schemas.microsoft.com/office/powerpoint/2010/main" val="3472488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85932-63BA-BA43-51BD-492710C59F15}"/>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660A3F69-EC96-C809-E8AB-A36FE6342634}"/>
              </a:ext>
            </a:extLst>
          </p:cNvPr>
          <p:cNvPicPr/>
          <p:nvPr/>
        </p:nvPicPr>
        <p:blipFill>
          <a:blip r:embed="rId2" cstate="print"/>
          <a:stretch>
            <a:fillRect/>
          </a:stretch>
        </p:blipFill>
        <p:spPr>
          <a:xfrm>
            <a:off x="10363200" y="0"/>
            <a:ext cx="1520062" cy="1342897"/>
          </a:xfrm>
          <a:prstGeom prst="rect">
            <a:avLst/>
          </a:prstGeom>
        </p:spPr>
      </p:pic>
      <p:pic>
        <p:nvPicPr>
          <p:cNvPr id="3" name="object 3">
            <a:extLst>
              <a:ext uri="{FF2B5EF4-FFF2-40B4-BE49-F238E27FC236}">
                <a16:creationId xmlns:a16="http://schemas.microsoft.com/office/drawing/2014/main" id="{4159E915-824D-668B-010A-923EC76A990E}"/>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507DDF3C-66B0-4FAD-CCA8-8C29123D14E2}"/>
              </a:ext>
            </a:extLst>
          </p:cNvPr>
          <p:cNvSpPr txBox="1">
            <a:spLocks noGrp="1"/>
          </p:cNvSpPr>
          <p:nvPr>
            <p:ph type="title"/>
          </p:nvPr>
        </p:nvSpPr>
        <p:spPr>
          <a:xfrm>
            <a:off x="2362200" y="513924"/>
            <a:ext cx="8077200" cy="690574"/>
          </a:xfrm>
          <a:prstGeom prst="rect">
            <a:avLst/>
          </a:prstGeom>
        </p:spPr>
        <p:txBody>
          <a:bodyPr vert="horz" wrap="square" lIns="0" tIns="13335" rIns="0" bIns="0" rtlCol="0">
            <a:spAutoFit/>
          </a:bodyPr>
          <a:lstStyle/>
          <a:p>
            <a:r>
              <a:rPr lang="en-IN" b="1" dirty="0"/>
              <a:t>Result</a:t>
            </a:r>
          </a:p>
        </p:txBody>
      </p:sp>
      <p:sp>
        <p:nvSpPr>
          <p:cNvPr id="6" name="object 6">
            <a:extLst>
              <a:ext uri="{FF2B5EF4-FFF2-40B4-BE49-F238E27FC236}">
                <a16:creationId xmlns:a16="http://schemas.microsoft.com/office/drawing/2014/main" id="{85C80032-EA58-4072-E4E5-243A155F801B}"/>
              </a:ext>
            </a:extLst>
          </p:cNvPr>
          <p:cNvSpPr txBox="1"/>
          <p:nvPr/>
        </p:nvSpPr>
        <p:spPr>
          <a:xfrm>
            <a:off x="1066800" y="1118235"/>
            <a:ext cx="9601200" cy="4554645"/>
          </a:xfrm>
          <a:prstGeom prst="rect">
            <a:avLst/>
          </a:prstGeom>
        </p:spPr>
        <p:txBody>
          <a:bodyPr vert="horz" wrap="square" lIns="0" tIns="12700" rIns="0" bIns="0" rtlCol="0">
            <a:spAutoFit/>
          </a:bodyPr>
          <a:lstStyle/>
          <a:p>
            <a:pPr marL="288290" indent="-285750" algn="just">
              <a:lnSpc>
                <a:spcPct val="150000"/>
              </a:lnSpc>
              <a:spcBef>
                <a:spcPts val="100"/>
              </a:spcBef>
              <a:buSzPct val="94444"/>
              <a:buFont typeface="Wingdings" panose="05000000000000000000" pitchFamily="2" charset="2"/>
              <a:buChar char="Ø"/>
              <a:tabLst>
                <a:tab pos="91440" algn="l"/>
              </a:tabLst>
            </a:pPr>
            <a:r>
              <a:rPr lang="en-US" b="1" dirty="0"/>
              <a:t>The AI Resume Screening System successfully automates the resume evaluation and candidate shortlisting process. The system extracts key information from candidate resumes, including skills, education, work experience, certifications, and projects, and compares this information with the job requirements. Based on the level of matching, it generates an overall match score, ranks candidates according to their suitability, and presents the results through a recruiter dashboard.</a:t>
            </a:r>
          </a:p>
          <a:p>
            <a:pPr marL="288290" indent="-285750" algn="just">
              <a:lnSpc>
                <a:spcPct val="150000"/>
              </a:lnSpc>
              <a:spcBef>
                <a:spcPts val="100"/>
              </a:spcBef>
              <a:buSzPct val="94444"/>
              <a:buFont typeface="Wingdings" panose="05000000000000000000" pitchFamily="2" charset="2"/>
              <a:buChar char="Ø"/>
              <a:tabLst>
                <a:tab pos="91440" algn="l"/>
              </a:tabLst>
            </a:pPr>
            <a:r>
              <a:rPr lang="en-US" b="1" dirty="0"/>
              <a:t>The developed system reduces the time required for manual resume screening, improves the consistency of candidate evaluation, and helps recruiters quickly identify the most suitable applicants. Additionally, the Skill Gap Analysis module identifies missing skills and provides recommendations for candidate improvement. Overall, the system demonstrates that AI and NLP techniques can make the recruitment process faster, more efficient, and more organized.</a:t>
            </a:r>
            <a:endParaRPr lang="en-US" sz="2400" b="1" dirty="0">
              <a:latin typeface="Times New Roman"/>
              <a:cs typeface="Times New Roman"/>
            </a:endParaRPr>
          </a:p>
        </p:txBody>
      </p:sp>
    </p:spTree>
    <p:extLst>
      <p:ext uri="{BB962C8B-B14F-4D97-AF65-F5344CB8AC3E}">
        <p14:creationId xmlns:p14="http://schemas.microsoft.com/office/powerpoint/2010/main" val="1069895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B893F-744D-0522-F012-AF1B5ED90C1B}"/>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4682C16A-3B4C-45F3-AC13-03973066F1C4}"/>
              </a:ext>
            </a:extLst>
          </p:cNvPr>
          <p:cNvPicPr/>
          <p:nvPr/>
        </p:nvPicPr>
        <p:blipFill>
          <a:blip r:embed="rId2" cstate="print"/>
          <a:stretch>
            <a:fillRect/>
          </a:stretch>
        </p:blipFill>
        <p:spPr>
          <a:xfrm>
            <a:off x="10671938" y="0"/>
            <a:ext cx="1520062" cy="1342897"/>
          </a:xfrm>
          <a:prstGeom prst="rect">
            <a:avLst/>
          </a:prstGeom>
        </p:spPr>
      </p:pic>
      <p:pic>
        <p:nvPicPr>
          <p:cNvPr id="3" name="object 3">
            <a:extLst>
              <a:ext uri="{FF2B5EF4-FFF2-40B4-BE49-F238E27FC236}">
                <a16:creationId xmlns:a16="http://schemas.microsoft.com/office/drawing/2014/main" id="{7763FA96-C116-82A7-DB44-986DE61E22D6}"/>
              </a:ext>
            </a:extLst>
          </p:cNvPr>
          <p:cNvPicPr/>
          <p:nvPr/>
        </p:nvPicPr>
        <p:blipFill>
          <a:blip r:embed="rId3" cstate="print"/>
          <a:stretch>
            <a:fillRect/>
          </a:stretch>
        </p:blipFill>
        <p:spPr>
          <a:xfrm>
            <a:off x="3962400" y="1524000"/>
            <a:ext cx="3570317" cy="4215765"/>
          </a:xfrm>
          <a:prstGeom prst="rect">
            <a:avLst/>
          </a:prstGeom>
        </p:spPr>
      </p:pic>
      <p:sp>
        <p:nvSpPr>
          <p:cNvPr id="4" name="object 4" descr="$PPTXTitle">
            <a:extLst>
              <a:ext uri="{FF2B5EF4-FFF2-40B4-BE49-F238E27FC236}">
                <a16:creationId xmlns:a16="http://schemas.microsoft.com/office/drawing/2014/main" id="{B55B7196-0718-D012-17AD-C73DF42E30A9}"/>
              </a:ext>
            </a:extLst>
          </p:cNvPr>
          <p:cNvSpPr txBox="1">
            <a:spLocks noGrp="1"/>
          </p:cNvSpPr>
          <p:nvPr>
            <p:ph type="title"/>
          </p:nvPr>
        </p:nvSpPr>
        <p:spPr>
          <a:xfrm>
            <a:off x="2362200" y="513924"/>
            <a:ext cx="8077200" cy="690574"/>
          </a:xfrm>
          <a:prstGeom prst="rect">
            <a:avLst/>
          </a:prstGeom>
        </p:spPr>
        <p:txBody>
          <a:bodyPr vert="horz" wrap="square" lIns="0" tIns="13335" rIns="0" bIns="0" rtlCol="0">
            <a:spAutoFit/>
          </a:bodyPr>
          <a:lstStyle/>
          <a:p>
            <a:r>
              <a:rPr lang="en-IN" b="1" dirty="0"/>
              <a:t>Conclusion</a:t>
            </a:r>
          </a:p>
        </p:txBody>
      </p:sp>
      <p:sp>
        <p:nvSpPr>
          <p:cNvPr id="6" name="object 6">
            <a:extLst>
              <a:ext uri="{FF2B5EF4-FFF2-40B4-BE49-F238E27FC236}">
                <a16:creationId xmlns:a16="http://schemas.microsoft.com/office/drawing/2014/main" id="{25FB167D-2CB0-BD0F-7665-24B9A16FFC91}"/>
              </a:ext>
            </a:extLst>
          </p:cNvPr>
          <p:cNvSpPr txBox="1"/>
          <p:nvPr/>
        </p:nvSpPr>
        <p:spPr>
          <a:xfrm>
            <a:off x="946958" y="1118235"/>
            <a:ext cx="9601200" cy="4134530"/>
          </a:xfrm>
          <a:prstGeom prst="rect">
            <a:avLst/>
          </a:prstGeom>
        </p:spPr>
        <p:txBody>
          <a:bodyPr vert="horz" wrap="square" lIns="0" tIns="12700" rIns="0" bIns="0" rtlCol="0">
            <a:spAutoFit/>
          </a:bodyPr>
          <a:lstStyle/>
          <a:p>
            <a:pPr marL="345440" indent="-342900" algn="just">
              <a:lnSpc>
                <a:spcPct val="150000"/>
              </a:lnSpc>
              <a:spcBef>
                <a:spcPts val="100"/>
              </a:spcBef>
              <a:buSzPct val="94444"/>
              <a:buFont typeface="Wingdings" panose="05000000000000000000" pitchFamily="2" charset="2"/>
              <a:buChar char="§"/>
              <a:tabLst>
                <a:tab pos="91440" algn="l"/>
              </a:tabLst>
            </a:pPr>
            <a:r>
              <a:rPr lang="en-US" sz="2000" dirty="0"/>
              <a:t>The AI Resume Screening System provides an intelligent and automated approach to modern recruitment by integrating Artificial Intelligence (AI) and Natural Language Processing (NLP) into the resume screening process. The system streamlines candidate evaluation through resume parsing, candidate ranking, recruiter dashboard management, and skill gap analysis, enabling recruiters to make informed hiring decisions with reduced manual effort.</a:t>
            </a:r>
          </a:p>
          <a:p>
            <a:pPr marL="345440" indent="-342900" algn="just">
              <a:lnSpc>
                <a:spcPct val="150000"/>
              </a:lnSpc>
              <a:spcBef>
                <a:spcPts val="100"/>
              </a:spcBef>
              <a:buSzPct val="94444"/>
              <a:buFont typeface="Wingdings" panose="05000000000000000000" pitchFamily="2" charset="2"/>
              <a:buChar char="§"/>
              <a:tabLst>
                <a:tab pos="91440" algn="l"/>
              </a:tabLst>
            </a:pPr>
            <a:r>
              <a:rPr lang="en-US" sz="2000" dirty="0"/>
              <a:t>This project demonstrates how AI can enhance recruitment efficiency by organizing candidate information, matching resumes with job requirements, and generating ranked candidate lists. It also supports candidates by identifying skill gaps and recommending areas for improvement. </a:t>
            </a:r>
            <a:endParaRPr lang="en-US" sz="2800" dirty="0">
              <a:latin typeface="Times New Roman"/>
              <a:cs typeface="Times New Roman"/>
            </a:endParaRPr>
          </a:p>
        </p:txBody>
      </p:sp>
    </p:spTree>
    <p:extLst>
      <p:ext uri="{BB962C8B-B14F-4D97-AF65-F5344CB8AC3E}">
        <p14:creationId xmlns:p14="http://schemas.microsoft.com/office/powerpoint/2010/main" val="1744793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Thank You Synonyms | Polite &amp; Professional Alternatives"/>
          <p:cNvPicPr/>
          <p:nvPr/>
        </p:nvPicPr>
        <p:blipFill>
          <a:blip r:embed="rId2" cstate="print"/>
          <a:stretch>
            <a:fillRect/>
          </a:stretch>
        </p:blipFill>
        <p:spPr>
          <a:xfrm>
            <a:off x="0" y="0"/>
            <a:ext cx="12192000" cy="6857998"/>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159</TotalTime>
  <Words>1406</Words>
  <Application>Microsoft Office PowerPoint</Application>
  <PresentationFormat>Widescreen</PresentationFormat>
  <Paragraphs>191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Garamond</vt:lpstr>
      <vt:lpstr>Times New Roman</vt:lpstr>
      <vt:lpstr>Wingdings</vt:lpstr>
      <vt:lpstr>Organic</vt:lpstr>
      <vt:lpstr>Capstone Project</vt:lpstr>
      <vt:lpstr>Introduction</vt:lpstr>
      <vt:lpstr> Objective of the AI Resume Screening System</vt:lpstr>
      <vt:lpstr>Techniques Used:</vt:lpstr>
      <vt:lpstr>PowerPoint Presentation</vt:lpstr>
      <vt:lpstr>PowerPoint Presentation</vt:lpstr>
      <vt:lpstr>Module 1: Resume Parsing</vt:lpstr>
      <vt:lpstr>Module 2: Candidate Ranking Model</vt:lpstr>
      <vt:lpstr>Module 3: Recruiter Dashboard</vt:lpstr>
      <vt:lpstr>Module 4: Candidate Skill Gap Analysis</vt:lpstr>
      <vt:lpstr>Data Set Explanation</vt:lpstr>
      <vt:lpstr>PowerPoint Presentation</vt:lpstr>
      <vt:lpstr>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Mubarak Shaik</dc:creator>
  <cp:lastModifiedBy>DIVA KARAN P</cp:lastModifiedBy>
  <cp:revision>3</cp:revision>
  <dcterms:created xsi:type="dcterms:W3CDTF">2026-06-16T04:29:53Z</dcterms:created>
  <dcterms:modified xsi:type="dcterms:W3CDTF">2026-08-27T04:20:33Z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2026-06-15T00:00:00Z</vt:filetime>
  </property>
  <property fmtid="{D5CDD505-2E9C-101B-9397-08002B2CF9AE}" pid="4" name="Creator">
    <vt:lpwstr>Microsoft® PowerPoint® 2024</vt:lpwstr>
  </property>
  <property fmtid="{D5CDD505-2E9C-101B-9397-08002B2CF9AE}" pid="5" name="LastSaved">
    <vt:filetime>2026-06-16T00:00:00Z</vt:filetime>
  </property>
  <property fmtid="{D5CDD505-2E9C-101B-9397-08002B2CF9AE}" pid="6" name="Producer">
    <vt:lpwstr>Microsoft® PowerPoint® 2024</vt:lpwstr>
  </property>
</Properties>
</file>